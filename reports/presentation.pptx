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4630400" cy="8229600"/>
  <p:notesSz cx="8229600" cy="14630400"/>
  <p:embeddedFontLst>
    <p:embeddedFont>
      <p:font typeface="Fraunces Extra Bold" panose="020B0604020202020204" charset="0"/>
      <p:regular r:id="rId19"/>
    </p:embeddedFont>
    <p:embeddedFont>
      <p:font typeface="Nobile"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7" d="100"/>
          <a:sy n="77" d="100"/>
        </p:scale>
        <p:origin x="20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7344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en-US"/>
          </a:p>
        </p:txBody>
      </p:sp>
      <p:sp>
        <p:nvSpPr>
          <p:cNvPr id="3" name="Shape 1"/>
          <p:cNvSpPr/>
          <p:nvPr/>
        </p:nvSpPr>
        <p:spPr>
          <a:xfrm>
            <a:off x="0" y="0"/>
            <a:ext cx="14630400" cy="8229600"/>
          </a:xfrm>
          <a:prstGeom prst="rect">
            <a:avLst/>
          </a:prstGeom>
          <a:solidFill>
            <a:srgbClr val="FAFFFA"/>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image" Target="../media/image32.svg"/><Relationship Id="rId5" Type="http://schemas.openxmlformats.org/officeDocument/2006/relationships/image" Target="../media/image3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725579"/>
            <a:ext cx="13042821" cy="1417558"/>
          </a:xfrm>
          <a:prstGeom prst="rect">
            <a:avLst/>
          </a:prstGeom>
          <a:noFill/>
          <a:ln/>
        </p:spPr>
        <p:txBody>
          <a:bodyPr wrap="squar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Detecting Healthcare Provider Fraud Using Machine Learning</a:t>
            </a:r>
            <a:endParaRPr lang="en-US" sz="4450" dirty="0"/>
          </a:p>
        </p:txBody>
      </p:sp>
      <p:sp>
        <p:nvSpPr>
          <p:cNvPr id="3" name="Text 1"/>
          <p:cNvSpPr/>
          <p:nvPr/>
        </p:nvSpPr>
        <p:spPr>
          <a:xfrm>
            <a:off x="793790" y="4233863"/>
            <a:ext cx="12168545" cy="566976"/>
          </a:xfrm>
          <a:prstGeom prst="rect">
            <a:avLst/>
          </a:prstGeom>
          <a:noFill/>
          <a:ln/>
        </p:spPr>
        <p:txBody>
          <a:bodyPr wrap="none" lIns="0" tIns="0" rIns="0" bIns="0" rtlCol="0" anchor="t"/>
          <a:lstStyle/>
          <a:p>
            <a:pPr marL="0" indent="0" algn="l">
              <a:lnSpc>
                <a:spcPts val="4450"/>
              </a:lnSpc>
              <a:buNone/>
            </a:pPr>
            <a:r>
              <a:rPr lang="en-US" sz="3550" b="1" dirty="0">
                <a:solidFill>
                  <a:srgbClr val="3B4540"/>
                </a:solidFill>
                <a:latin typeface="Fraunces Extra Bold" pitchFamily="34" charset="0"/>
                <a:ea typeface="Fraunces Extra Bold" pitchFamily="34" charset="-122"/>
                <a:cs typeface="Fraunces Extra Bold" pitchFamily="34" charset="-120"/>
              </a:rPr>
              <a:t>Building a Provider-Level Fraud Risk Scoring System</a:t>
            </a:r>
            <a:endParaRPr lang="en-US" sz="3550" dirty="0"/>
          </a:p>
        </p:txBody>
      </p:sp>
      <p:sp>
        <p:nvSpPr>
          <p:cNvPr id="4" name="Text 2"/>
          <p:cNvSpPr/>
          <p:nvPr/>
        </p:nvSpPr>
        <p:spPr>
          <a:xfrm>
            <a:off x="793790" y="5141000"/>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Presented by: Zeina Shaarawy, Judy Hisham, Jana Saeed, Farah Sherif</a:t>
            </a:r>
            <a:endParaRPr lang="en-US" sz="1750" dirty="0"/>
          </a:p>
        </p:txBody>
      </p:sp>
      <p:sp>
        <p:nvSpPr>
          <p:cNvPr id="5" name="Rectangle 4">
            <a:extLst>
              <a:ext uri="{FF2B5EF4-FFF2-40B4-BE49-F238E27FC236}">
                <a16:creationId xmlns:a16="http://schemas.microsoft.com/office/drawing/2014/main" id="{91A5DB69-5474-CB8F-F864-BD2171A61A1E}"/>
              </a:ext>
            </a:extLst>
          </p:cNvPr>
          <p:cNvSpPr/>
          <p:nvPr/>
        </p:nvSpPr>
        <p:spPr>
          <a:xfrm>
            <a:off x="12660284" y="7697089"/>
            <a:ext cx="1895301" cy="47432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24019"/>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The Problem: The Cost of Healthcare Fraud</a:t>
            </a:r>
            <a:endParaRPr lang="en-US" sz="4450" dirty="0"/>
          </a:p>
        </p:txBody>
      </p:sp>
      <p:sp>
        <p:nvSpPr>
          <p:cNvPr id="4" name="Text 1"/>
          <p:cNvSpPr/>
          <p:nvPr/>
        </p:nvSpPr>
        <p:spPr>
          <a:xfrm>
            <a:off x="793790" y="2481739"/>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Healthcare fraud is a pervasive issue costing billions annually, directly impacting insurance payers, patients, and the integrity of the healthcare system.</a:t>
            </a:r>
            <a:endParaRPr lang="en-US" sz="1750" dirty="0"/>
          </a:p>
        </p:txBody>
      </p:sp>
      <p:sp>
        <p:nvSpPr>
          <p:cNvPr id="5" name="Text 2"/>
          <p:cNvSpPr/>
          <p:nvPr/>
        </p:nvSpPr>
        <p:spPr>
          <a:xfrm>
            <a:off x="793790" y="3825597"/>
            <a:ext cx="75564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405449"/>
                </a:solidFill>
                <a:latin typeface="Nobile" pitchFamily="34" charset="0"/>
                <a:ea typeface="Nobile" pitchFamily="34" charset="-122"/>
                <a:cs typeface="Nobile" pitchFamily="34" charset="-120"/>
              </a:rPr>
              <a:t>Inflated Billing:</a:t>
            </a:r>
            <a:r>
              <a:rPr lang="en-US" sz="1750" dirty="0">
                <a:solidFill>
                  <a:srgbClr val="405449"/>
                </a:solidFill>
                <a:latin typeface="Nobile" pitchFamily="34" charset="0"/>
                <a:ea typeface="Nobile" pitchFamily="34" charset="-122"/>
                <a:cs typeface="Nobile" pitchFamily="34" charset="-120"/>
              </a:rPr>
              <a:t> Fraudulent providers submit claims for services not rendered or charge exorbitant amounts.</a:t>
            </a:r>
            <a:endParaRPr lang="en-US" sz="1750" dirty="0"/>
          </a:p>
        </p:txBody>
      </p:sp>
      <p:sp>
        <p:nvSpPr>
          <p:cNvPr id="6" name="Text 3"/>
          <p:cNvSpPr/>
          <p:nvPr/>
        </p:nvSpPr>
        <p:spPr>
          <a:xfrm>
            <a:off x="793790" y="4630698"/>
            <a:ext cx="75564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405449"/>
                </a:solidFill>
                <a:latin typeface="Nobile" pitchFamily="34" charset="0"/>
                <a:ea typeface="Nobile" pitchFamily="34" charset="-122"/>
                <a:cs typeface="Nobile" pitchFamily="34" charset="-120"/>
              </a:rPr>
              <a:t>Upcoding Procedures:</a:t>
            </a:r>
            <a:r>
              <a:rPr lang="en-US" sz="1750" dirty="0">
                <a:solidFill>
                  <a:srgbClr val="405449"/>
                </a:solidFill>
                <a:latin typeface="Nobile" pitchFamily="34" charset="0"/>
                <a:ea typeface="Nobile" pitchFamily="34" charset="-122"/>
                <a:cs typeface="Nobile" pitchFamily="34" charset="-120"/>
              </a:rPr>
              <a:t> Billing for more complex and expensive procedures than actually performed.</a:t>
            </a:r>
            <a:endParaRPr lang="en-US" sz="1750" dirty="0"/>
          </a:p>
        </p:txBody>
      </p:sp>
      <p:sp>
        <p:nvSpPr>
          <p:cNvPr id="7" name="Text 4"/>
          <p:cNvSpPr/>
          <p:nvPr/>
        </p:nvSpPr>
        <p:spPr>
          <a:xfrm>
            <a:off x="793790" y="5435798"/>
            <a:ext cx="75564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405449"/>
                </a:solidFill>
                <a:latin typeface="Nobile" pitchFamily="34" charset="0"/>
                <a:ea typeface="Nobile" pitchFamily="34" charset="-122"/>
                <a:cs typeface="Nobile" pitchFamily="34" charset="-120"/>
              </a:rPr>
              <a:t>Deceased Patient Billing:</a:t>
            </a:r>
            <a:r>
              <a:rPr lang="en-US" sz="1750" dirty="0">
                <a:solidFill>
                  <a:srgbClr val="405449"/>
                </a:solidFill>
                <a:latin typeface="Nobile" pitchFamily="34" charset="0"/>
                <a:ea typeface="Nobile" pitchFamily="34" charset="-122"/>
                <a:cs typeface="Nobile" pitchFamily="34" charset="-120"/>
              </a:rPr>
              <a:t> Exploiting administrative loopholes by billing for services to deceased individuals.</a:t>
            </a:r>
            <a:endParaRPr lang="en-US" sz="1750" dirty="0"/>
          </a:p>
        </p:txBody>
      </p:sp>
      <p:sp>
        <p:nvSpPr>
          <p:cNvPr id="8" name="Text 5"/>
          <p:cNvSpPr/>
          <p:nvPr/>
        </p:nvSpPr>
        <p:spPr>
          <a:xfrm>
            <a:off x="793790" y="6416754"/>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Manual auditing of every provider is infeasible, necessitating an </a:t>
            </a:r>
            <a:r>
              <a:rPr lang="en-US" sz="1750" b="1" dirty="0">
                <a:solidFill>
                  <a:srgbClr val="438951"/>
                </a:solidFill>
                <a:latin typeface="Nobile" pitchFamily="34" charset="0"/>
                <a:ea typeface="Nobile" pitchFamily="34" charset="-122"/>
                <a:cs typeface="Nobile" pitchFamily="34" charset="-120"/>
              </a:rPr>
              <a:t>automated risk scoring system</a:t>
            </a:r>
            <a:r>
              <a:rPr lang="en-US" sz="1750" dirty="0">
                <a:solidFill>
                  <a:srgbClr val="405449"/>
                </a:solidFill>
                <a:latin typeface="Nobile" pitchFamily="34" charset="0"/>
                <a:ea typeface="Nobile" pitchFamily="34" charset="-122"/>
                <a:cs typeface="Nobile" pitchFamily="34" charset="-120"/>
              </a:rPr>
              <a:t> to efficiently identify high-risk cases.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31163" y="887849"/>
            <a:ext cx="13126522" cy="652820"/>
          </a:xfrm>
          <a:prstGeom prst="rect">
            <a:avLst/>
          </a:prstGeom>
          <a:noFill/>
          <a:ln/>
        </p:spPr>
        <p:txBody>
          <a:bodyPr wrap="none" lIns="0" tIns="0" rIns="0" bIns="0" rtlCol="0" anchor="t"/>
          <a:lstStyle/>
          <a:p>
            <a:pPr marL="0" indent="0" algn="l">
              <a:lnSpc>
                <a:spcPts val="5100"/>
              </a:lnSpc>
              <a:buNone/>
            </a:pPr>
            <a:r>
              <a:rPr lang="en-US" sz="4100" b="1" dirty="0">
                <a:solidFill>
                  <a:srgbClr val="3B4540"/>
                </a:solidFill>
                <a:latin typeface="Fraunces Extra Bold" pitchFamily="34" charset="0"/>
                <a:ea typeface="Fraunces Extra Bold" pitchFamily="34" charset="-122"/>
                <a:cs typeface="Fraunces Extra Bold" pitchFamily="34" charset="-120"/>
              </a:rPr>
              <a:t>Project Objectives: A Machine Learning Approach</a:t>
            </a:r>
            <a:endParaRPr lang="en-US" sz="4100" dirty="0"/>
          </a:p>
        </p:txBody>
      </p:sp>
      <p:sp>
        <p:nvSpPr>
          <p:cNvPr id="3" name="Text 1"/>
          <p:cNvSpPr/>
          <p:nvPr/>
        </p:nvSpPr>
        <p:spPr>
          <a:xfrm>
            <a:off x="731163" y="1854041"/>
            <a:ext cx="13168074" cy="668655"/>
          </a:xfrm>
          <a:prstGeom prst="rect">
            <a:avLst/>
          </a:prstGeom>
          <a:noFill/>
          <a:ln/>
        </p:spPr>
        <p:txBody>
          <a:bodyPr wrap="square" lIns="0" tIns="0" rIns="0" bIns="0" rtlCol="0" anchor="t"/>
          <a:lstStyle/>
          <a:p>
            <a:pPr marL="0" indent="0" algn="l">
              <a:lnSpc>
                <a:spcPts val="2600"/>
              </a:lnSpc>
              <a:buNone/>
            </a:pPr>
            <a:r>
              <a:rPr lang="en-US" sz="1600" dirty="0">
                <a:solidFill>
                  <a:srgbClr val="405449"/>
                </a:solidFill>
                <a:latin typeface="Nobile" pitchFamily="34" charset="0"/>
                <a:ea typeface="Nobile" pitchFamily="34" charset="-122"/>
                <a:cs typeface="Nobile" pitchFamily="34" charset="-120"/>
              </a:rPr>
              <a:t>Our initiative focused on developing a robust, end-to-end machine learning pipeline to proactively identify and prioritize fraudulent providers from complex claims data.</a:t>
            </a:r>
            <a:endParaRPr lang="en-US" sz="1600" dirty="0"/>
          </a:p>
        </p:txBody>
      </p:sp>
      <p:sp>
        <p:nvSpPr>
          <p:cNvPr id="4" name="Shape 2"/>
          <p:cNvSpPr/>
          <p:nvPr/>
        </p:nvSpPr>
        <p:spPr>
          <a:xfrm>
            <a:off x="731163" y="3071098"/>
            <a:ext cx="6479619" cy="1874163"/>
          </a:xfrm>
          <a:prstGeom prst="roundRect">
            <a:avLst>
              <a:gd name="adj" fmla="val 5855"/>
            </a:avLst>
          </a:prstGeom>
          <a:solidFill>
            <a:srgbClr val="FAFFFA"/>
          </a:solidFill>
          <a:ln/>
        </p:spPr>
        <p:txBody>
          <a:bodyPr/>
          <a:lstStyle/>
          <a:p>
            <a:endParaRPr lang="en-US"/>
          </a:p>
        </p:txBody>
      </p:sp>
      <p:sp>
        <p:nvSpPr>
          <p:cNvPr id="5" name="Shape 3"/>
          <p:cNvSpPr/>
          <p:nvPr/>
        </p:nvSpPr>
        <p:spPr>
          <a:xfrm>
            <a:off x="731163" y="3048238"/>
            <a:ext cx="6479619" cy="91440"/>
          </a:xfrm>
          <a:prstGeom prst="roundRect">
            <a:avLst>
              <a:gd name="adj" fmla="val 205638"/>
            </a:avLst>
          </a:prstGeom>
          <a:solidFill>
            <a:srgbClr val="438951"/>
          </a:solidFill>
          <a:ln/>
        </p:spPr>
        <p:txBody>
          <a:bodyPr/>
          <a:lstStyle/>
          <a:p>
            <a:endParaRPr lang="en-US"/>
          </a:p>
        </p:txBody>
      </p:sp>
      <p:sp>
        <p:nvSpPr>
          <p:cNvPr id="6" name="Shape 4"/>
          <p:cNvSpPr/>
          <p:nvPr/>
        </p:nvSpPr>
        <p:spPr>
          <a:xfrm>
            <a:off x="3657600" y="2757726"/>
            <a:ext cx="626745" cy="626745"/>
          </a:xfrm>
          <a:prstGeom prst="roundRect">
            <a:avLst>
              <a:gd name="adj" fmla="val 145897"/>
            </a:avLst>
          </a:prstGeom>
          <a:solidFill>
            <a:srgbClr val="438951"/>
          </a:solidFill>
          <a:ln/>
        </p:spPr>
        <p:txBody>
          <a:bodyPr/>
          <a:lstStyle/>
          <a:p>
            <a:endParaRPr lang="en-US"/>
          </a:p>
        </p:txBody>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45600" y="2945725"/>
            <a:ext cx="250627" cy="250627"/>
          </a:xfrm>
          <a:prstGeom prst="rect">
            <a:avLst/>
          </a:prstGeom>
        </p:spPr>
      </p:pic>
      <p:sp>
        <p:nvSpPr>
          <p:cNvPr id="8" name="Text 5"/>
          <p:cNvSpPr/>
          <p:nvPr/>
        </p:nvSpPr>
        <p:spPr>
          <a:xfrm>
            <a:off x="962858" y="3593306"/>
            <a:ext cx="3901559" cy="326350"/>
          </a:xfrm>
          <a:prstGeom prst="rect">
            <a:avLst/>
          </a:prstGeom>
          <a:noFill/>
          <a:ln/>
        </p:spPr>
        <p:txBody>
          <a:bodyPr wrap="none" lIns="0" tIns="0" rIns="0" bIns="0" rtlCol="0" anchor="t"/>
          <a:lstStyle/>
          <a:p>
            <a:pPr marL="0" indent="0" algn="l">
              <a:lnSpc>
                <a:spcPts val="2550"/>
              </a:lnSpc>
              <a:buNone/>
            </a:pPr>
            <a:r>
              <a:rPr lang="en-US" sz="2050" b="1" dirty="0">
                <a:solidFill>
                  <a:srgbClr val="405449"/>
                </a:solidFill>
                <a:latin typeface="Fraunces Extra Bold" pitchFamily="34" charset="0"/>
                <a:ea typeface="Fraunces Extra Bold" pitchFamily="34" charset="-122"/>
                <a:cs typeface="Fraunces Extra Bold" pitchFamily="34" charset="-120"/>
              </a:rPr>
              <a:t>Predict Fraudulent Providers</a:t>
            </a:r>
            <a:endParaRPr lang="en-US" sz="2050" dirty="0"/>
          </a:p>
        </p:txBody>
      </p:sp>
      <p:sp>
        <p:nvSpPr>
          <p:cNvPr id="9" name="Text 6"/>
          <p:cNvSpPr/>
          <p:nvPr/>
        </p:nvSpPr>
        <p:spPr>
          <a:xfrm>
            <a:off x="962858" y="4044910"/>
            <a:ext cx="6016228" cy="668655"/>
          </a:xfrm>
          <a:prstGeom prst="rect">
            <a:avLst/>
          </a:prstGeom>
          <a:noFill/>
          <a:ln/>
        </p:spPr>
        <p:txBody>
          <a:bodyPr wrap="square" lIns="0" tIns="0" rIns="0" bIns="0" rtlCol="0" anchor="t"/>
          <a:lstStyle/>
          <a:p>
            <a:pPr marL="0" indent="0" algn="l">
              <a:lnSpc>
                <a:spcPts val="2600"/>
              </a:lnSpc>
              <a:buNone/>
            </a:pPr>
            <a:r>
              <a:rPr lang="en-US" sz="1600" dirty="0">
                <a:solidFill>
                  <a:srgbClr val="405449"/>
                </a:solidFill>
                <a:latin typeface="Nobile" pitchFamily="34" charset="0"/>
                <a:ea typeface="Nobile" pitchFamily="34" charset="-122"/>
                <a:cs typeface="Nobile" pitchFamily="34" charset="-120"/>
              </a:rPr>
              <a:t>Utilizing historical claims data to accurately flag potential fraud at the provider level.</a:t>
            </a:r>
            <a:endParaRPr lang="en-US" sz="1600" dirty="0"/>
          </a:p>
        </p:txBody>
      </p:sp>
      <p:sp>
        <p:nvSpPr>
          <p:cNvPr id="10" name="Shape 7"/>
          <p:cNvSpPr/>
          <p:nvPr/>
        </p:nvSpPr>
        <p:spPr>
          <a:xfrm>
            <a:off x="7419618" y="3071098"/>
            <a:ext cx="6479619" cy="1874163"/>
          </a:xfrm>
          <a:prstGeom prst="roundRect">
            <a:avLst>
              <a:gd name="adj" fmla="val 5855"/>
            </a:avLst>
          </a:prstGeom>
          <a:solidFill>
            <a:srgbClr val="FAFFFA"/>
          </a:solidFill>
          <a:ln/>
        </p:spPr>
        <p:txBody>
          <a:bodyPr/>
          <a:lstStyle/>
          <a:p>
            <a:endParaRPr lang="en-US"/>
          </a:p>
        </p:txBody>
      </p:sp>
      <p:sp>
        <p:nvSpPr>
          <p:cNvPr id="11" name="Shape 8"/>
          <p:cNvSpPr/>
          <p:nvPr/>
        </p:nvSpPr>
        <p:spPr>
          <a:xfrm>
            <a:off x="7419618" y="3048238"/>
            <a:ext cx="6479619" cy="91440"/>
          </a:xfrm>
          <a:prstGeom prst="roundRect">
            <a:avLst>
              <a:gd name="adj" fmla="val 205638"/>
            </a:avLst>
          </a:prstGeom>
          <a:solidFill>
            <a:srgbClr val="438951"/>
          </a:solidFill>
          <a:ln/>
        </p:spPr>
        <p:txBody>
          <a:bodyPr/>
          <a:lstStyle/>
          <a:p>
            <a:endParaRPr lang="en-US"/>
          </a:p>
        </p:txBody>
      </p:sp>
      <p:sp>
        <p:nvSpPr>
          <p:cNvPr id="12" name="Shape 9"/>
          <p:cNvSpPr/>
          <p:nvPr/>
        </p:nvSpPr>
        <p:spPr>
          <a:xfrm>
            <a:off x="10346055" y="2757726"/>
            <a:ext cx="626745" cy="626745"/>
          </a:xfrm>
          <a:prstGeom prst="roundRect">
            <a:avLst>
              <a:gd name="adj" fmla="val 145897"/>
            </a:avLst>
          </a:prstGeom>
          <a:solidFill>
            <a:srgbClr val="438951"/>
          </a:solidFill>
          <a:ln/>
        </p:spPr>
        <p:txBody>
          <a:bodyPr/>
          <a:lstStyle/>
          <a:p>
            <a:endParaRPr lang="en-US"/>
          </a:p>
        </p:txBody>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34055" y="2945725"/>
            <a:ext cx="250627" cy="250627"/>
          </a:xfrm>
          <a:prstGeom prst="rect">
            <a:avLst/>
          </a:prstGeom>
        </p:spPr>
      </p:pic>
      <p:sp>
        <p:nvSpPr>
          <p:cNvPr id="14" name="Text 10"/>
          <p:cNvSpPr/>
          <p:nvPr/>
        </p:nvSpPr>
        <p:spPr>
          <a:xfrm>
            <a:off x="7651313" y="3593306"/>
            <a:ext cx="3176826" cy="326350"/>
          </a:xfrm>
          <a:prstGeom prst="rect">
            <a:avLst/>
          </a:prstGeom>
          <a:noFill/>
          <a:ln/>
        </p:spPr>
        <p:txBody>
          <a:bodyPr wrap="none" lIns="0" tIns="0" rIns="0" bIns="0" rtlCol="0" anchor="t"/>
          <a:lstStyle/>
          <a:p>
            <a:pPr marL="0" indent="0" algn="l">
              <a:lnSpc>
                <a:spcPts val="2550"/>
              </a:lnSpc>
              <a:buNone/>
            </a:pPr>
            <a:r>
              <a:rPr lang="en-US" sz="2050" b="1" dirty="0">
                <a:solidFill>
                  <a:srgbClr val="405449"/>
                </a:solidFill>
                <a:latin typeface="Fraunces Extra Bold" pitchFamily="34" charset="0"/>
                <a:ea typeface="Fraunces Extra Bold" pitchFamily="34" charset="-122"/>
                <a:cs typeface="Fraunces Extra Bold" pitchFamily="34" charset="-120"/>
              </a:rPr>
              <a:t>Handle Class Imbalance</a:t>
            </a:r>
            <a:endParaRPr lang="en-US" sz="2050" dirty="0"/>
          </a:p>
        </p:txBody>
      </p:sp>
      <p:sp>
        <p:nvSpPr>
          <p:cNvPr id="15" name="Text 11"/>
          <p:cNvSpPr/>
          <p:nvPr/>
        </p:nvSpPr>
        <p:spPr>
          <a:xfrm>
            <a:off x="7651313" y="4044910"/>
            <a:ext cx="6016228" cy="668655"/>
          </a:xfrm>
          <a:prstGeom prst="rect">
            <a:avLst/>
          </a:prstGeom>
          <a:noFill/>
          <a:ln/>
        </p:spPr>
        <p:txBody>
          <a:bodyPr wrap="square" lIns="0" tIns="0" rIns="0" bIns="0" rtlCol="0" anchor="t"/>
          <a:lstStyle/>
          <a:p>
            <a:pPr marL="0" indent="0" algn="l">
              <a:lnSpc>
                <a:spcPts val="2600"/>
              </a:lnSpc>
              <a:buNone/>
            </a:pPr>
            <a:r>
              <a:rPr lang="en-US" sz="1600" dirty="0">
                <a:solidFill>
                  <a:srgbClr val="405449"/>
                </a:solidFill>
                <a:latin typeface="Nobile" pitchFamily="34" charset="0"/>
                <a:ea typeface="Nobile" pitchFamily="34" charset="-122"/>
                <a:cs typeface="Nobile" pitchFamily="34" charset="-120"/>
              </a:rPr>
              <a:t>Addressing the challenge of rare fraud instances (~9%) to prevent model bias.</a:t>
            </a:r>
            <a:endParaRPr lang="en-US" sz="1600" dirty="0"/>
          </a:p>
        </p:txBody>
      </p:sp>
      <p:sp>
        <p:nvSpPr>
          <p:cNvPr id="16" name="Shape 12"/>
          <p:cNvSpPr/>
          <p:nvPr/>
        </p:nvSpPr>
        <p:spPr>
          <a:xfrm>
            <a:off x="731163" y="5467469"/>
            <a:ext cx="6479619" cy="1874163"/>
          </a:xfrm>
          <a:prstGeom prst="roundRect">
            <a:avLst>
              <a:gd name="adj" fmla="val 5855"/>
            </a:avLst>
          </a:prstGeom>
          <a:solidFill>
            <a:srgbClr val="FAFFFA"/>
          </a:solidFill>
          <a:ln/>
        </p:spPr>
        <p:txBody>
          <a:bodyPr/>
          <a:lstStyle/>
          <a:p>
            <a:endParaRPr lang="en-US"/>
          </a:p>
        </p:txBody>
      </p:sp>
      <p:sp>
        <p:nvSpPr>
          <p:cNvPr id="17" name="Shape 13"/>
          <p:cNvSpPr/>
          <p:nvPr/>
        </p:nvSpPr>
        <p:spPr>
          <a:xfrm>
            <a:off x="731163" y="5444609"/>
            <a:ext cx="6479619" cy="91440"/>
          </a:xfrm>
          <a:prstGeom prst="roundRect">
            <a:avLst>
              <a:gd name="adj" fmla="val 205638"/>
            </a:avLst>
          </a:prstGeom>
          <a:solidFill>
            <a:srgbClr val="438951"/>
          </a:solidFill>
          <a:ln/>
        </p:spPr>
        <p:txBody>
          <a:bodyPr/>
          <a:lstStyle/>
          <a:p>
            <a:endParaRPr lang="en-US"/>
          </a:p>
        </p:txBody>
      </p:sp>
      <p:sp>
        <p:nvSpPr>
          <p:cNvPr id="18" name="Shape 14"/>
          <p:cNvSpPr/>
          <p:nvPr/>
        </p:nvSpPr>
        <p:spPr>
          <a:xfrm>
            <a:off x="3657600" y="5154097"/>
            <a:ext cx="626745" cy="626745"/>
          </a:xfrm>
          <a:prstGeom prst="roundRect">
            <a:avLst>
              <a:gd name="adj" fmla="val 145897"/>
            </a:avLst>
          </a:prstGeom>
          <a:solidFill>
            <a:srgbClr val="438951"/>
          </a:solidFill>
          <a:ln/>
        </p:spPr>
        <p:txBody>
          <a:bodyPr/>
          <a:lstStyle/>
          <a:p>
            <a:endParaRPr lang="en-US"/>
          </a:p>
        </p:txBody>
      </p:sp>
      <p:pic>
        <p:nvPicPr>
          <p:cNvPr id="1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45600" y="5342096"/>
            <a:ext cx="250627" cy="250627"/>
          </a:xfrm>
          <a:prstGeom prst="rect">
            <a:avLst/>
          </a:prstGeom>
        </p:spPr>
      </p:pic>
      <p:sp>
        <p:nvSpPr>
          <p:cNvPr id="20" name="Text 15"/>
          <p:cNvSpPr/>
          <p:nvPr/>
        </p:nvSpPr>
        <p:spPr>
          <a:xfrm>
            <a:off x="962858" y="5989677"/>
            <a:ext cx="3813572" cy="326350"/>
          </a:xfrm>
          <a:prstGeom prst="rect">
            <a:avLst/>
          </a:prstGeom>
          <a:noFill/>
          <a:ln/>
        </p:spPr>
        <p:txBody>
          <a:bodyPr wrap="none" lIns="0" tIns="0" rIns="0" bIns="0" rtlCol="0" anchor="t"/>
          <a:lstStyle/>
          <a:p>
            <a:pPr marL="0" indent="0" algn="l">
              <a:lnSpc>
                <a:spcPts val="2550"/>
              </a:lnSpc>
              <a:buNone/>
            </a:pPr>
            <a:r>
              <a:rPr lang="en-US" sz="2050" b="1" dirty="0">
                <a:solidFill>
                  <a:srgbClr val="405449"/>
                </a:solidFill>
                <a:latin typeface="Fraunces Extra Bold" pitchFamily="34" charset="0"/>
                <a:ea typeface="Fraunces Extra Bold" pitchFamily="34" charset="-122"/>
                <a:cs typeface="Fraunces Extra Bold" pitchFamily="34" charset="-120"/>
              </a:rPr>
              <a:t>Provide Explainable Insights</a:t>
            </a:r>
            <a:endParaRPr lang="en-US" sz="2050" dirty="0"/>
          </a:p>
        </p:txBody>
      </p:sp>
      <p:sp>
        <p:nvSpPr>
          <p:cNvPr id="21" name="Text 16"/>
          <p:cNvSpPr/>
          <p:nvPr/>
        </p:nvSpPr>
        <p:spPr>
          <a:xfrm>
            <a:off x="962858" y="6441281"/>
            <a:ext cx="6016228" cy="668655"/>
          </a:xfrm>
          <a:prstGeom prst="rect">
            <a:avLst/>
          </a:prstGeom>
          <a:noFill/>
          <a:ln/>
        </p:spPr>
        <p:txBody>
          <a:bodyPr wrap="square" lIns="0" tIns="0" rIns="0" bIns="0" rtlCol="0" anchor="t"/>
          <a:lstStyle/>
          <a:p>
            <a:pPr marL="0" indent="0" algn="l">
              <a:lnSpc>
                <a:spcPts val="2600"/>
              </a:lnSpc>
              <a:buNone/>
            </a:pPr>
            <a:r>
              <a:rPr lang="en-US" sz="1600" dirty="0">
                <a:solidFill>
                  <a:srgbClr val="405449"/>
                </a:solidFill>
                <a:latin typeface="Nobile" pitchFamily="34" charset="0"/>
                <a:ea typeface="Nobile" pitchFamily="34" charset="-122"/>
                <a:cs typeface="Nobile" pitchFamily="34" charset="-120"/>
              </a:rPr>
              <a:t>Ensuring transparency in fraud detection, allowing investigators to understand the "why" behind each flag.</a:t>
            </a:r>
            <a:endParaRPr lang="en-US" sz="1600" dirty="0"/>
          </a:p>
        </p:txBody>
      </p:sp>
      <p:sp>
        <p:nvSpPr>
          <p:cNvPr id="22" name="Shape 17"/>
          <p:cNvSpPr/>
          <p:nvPr/>
        </p:nvSpPr>
        <p:spPr>
          <a:xfrm>
            <a:off x="7419618" y="5467469"/>
            <a:ext cx="6479619" cy="1874163"/>
          </a:xfrm>
          <a:prstGeom prst="roundRect">
            <a:avLst>
              <a:gd name="adj" fmla="val 5855"/>
            </a:avLst>
          </a:prstGeom>
          <a:solidFill>
            <a:srgbClr val="FAFFFA"/>
          </a:solidFill>
          <a:ln/>
        </p:spPr>
        <p:txBody>
          <a:bodyPr/>
          <a:lstStyle/>
          <a:p>
            <a:endParaRPr lang="en-US"/>
          </a:p>
        </p:txBody>
      </p:sp>
      <p:sp>
        <p:nvSpPr>
          <p:cNvPr id="23" name="Shape 18"/>
          <p:cNvSpPr/>
          <p:nvPr/>
        </p:nvSpPr>
        <p:spPr>
          <a:xfrm>
            <a:off x="7419618" y="5444609"/>
            <a:ext cx="6479619" cy="91440"/>
          </a:xfrm>
          <a:prstGeom prst="roundRect">
            <a:avLst>
              <a:gd name="adj" fmla="val 205638"/>
            </a:avLst>
          </a:prstGeom>
          <a:solidFill>
            <a:srgbClr val="438951"/>
          </a:solidFill>
          <a:ln/>
        </p:spPr>
        <p:txBody>
          <a:bodyPr/>
          <a:lstStyle/>
          <a:p>
            <a:endParaRPr lang="en-US"/>
          </a:p>
        </p:txBody>
      </p:sp>
      <p:sp>
        <p:nvSpPr>
          <p:cNvPr id="24" name="Shape 19"/>
          <p:cNvSpPr/>
          <p:nvPr/>
        </p:nvSpPr>
        <p:spPr>
          <a:xfrm>
            <a:off x="10346055" y="5154097"/>
            <a:ext cx="626745" cy="626745"/>
          </a:xfrm>
          <a:prstGeom prst="roundRect">
            <a:avLst>
              <a:gd name="adj" fmla="val 145897"/>
            </a:avLst>
          </a:prstGeom>
          <a:solidFill>
            <a:srgbClr val="438951"/>
          </a:solidFill>
          <a:ln/>
        </p:spPr>
        <p:txBody>
          <a:bodyPr/>
          <a:lstStyle/>
          <a:p>
            <a:endParaRPr lang="en-US"/>
          </a:p>
        </p:txBody>
      </p:sp>
      <p:pic>
        <p:nvPicPr>
          <p:cNvPr id="25"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534055" y="5342096"/>
            <a:ext cx="250627" cy="250627"/>
          </a:xfrm>
          <a:prstGeom prst="rect">
            <a:avLst/>
          </a:prstGeom>
        </p:spPr>
      </p:pic>
      <p:sp>
        <p:nvSpPr>
          <p:cNvPr id="26" name="Text 20"/>
          <p:cNvSpPr/>
          <p:nvPr/>
        </p:nvSpPr>
        <p:spPr>
          <a:xfrm>
            <a:off x="7651313" y="5989677"/>
            <a:ext cx="3239333" cy="326350"/>
          </a:xfrm>
          <a:prstGeom prst="rect">
            <a:avLst/>
          </a:prstGeom>
          <a:noFill/>
          <a:ln/>
        </p:spPr>
        <p:txBody>
          <a:bodyPr wrap="none" lIns="0" tIns="0" rIns="0" bIns="0" rtlCol="0" anchor="t"/>
          <a:lstStyle/>
          <a:p>
            <a:pPr marL="0" indent="0" algn="l">
              <a:lnSpc>
                <a:spcPts val="2550"/>
              </a:lnSpc>
              <a:buNone/>
            </a:pPr>
            <a:r>
              <a:rPr lang="en-US" sz="2050" b="1" dirty="0">
                <a:solidFill>
                  <a:srgbClr val="405449"/>
                </a:solidFill>
                <a:latin typeface="Fraunces Extra Bold" pitchFamily="34" charset="0"/>
                <a:ea typeface="Fraunces Extra Bold" pitchFamily="34" charset="-122"/>
                <a:cs typeface="Fraunces Extra Bold" pitchFamily="34" charset="-120"/>
              </a:rPr>
              <a:t>Precision &amp; Recall Focus</a:t>
            </a:r>
            <a:endParaRPr lang="en-US" sz="2050" dirty="0"/>
          </a:p>
        </p:txBody>
      </p:sp>
      <p:sp>
        <p:nvSpPr>
          <p:cNvPr id="27" name="Text 21"/>
          <p:cNvSpPr/>
          <p:nvPr/>
        </p:nvSpPr>
        <p:spPr>
          <a:xfrm>
            <a:off x="7651313" y="6441281"/>
            <a:ext cx="6016228" cy="668655"/>
          </a:xfrm>
          <a:prstGeom prst="rect">
            <a:avLst/>
          </a:prstGeom>
          <a:noFill/>
          <a:ln/>
        </p:spPr>
        <p:txBody>
          <a:bodyPr wrap="square" lIns="0" tIns="0" rIns="0" bIns="0" rtlCol="0" anchor="t"/>
          <a:lstStyle/>
          <a:p>
            <a:pPr marL="0" indent="0" algn="l">
              <a:lnSpc>
                <a:spcPts val="2600"/>
              </a:lnSpc>
              <a:buNone/>
            </a:pPr>
            <a:r>
              <a:rPr lang="en-US" sz="1600" dirty="0">
                <a:solidFill>
                  <a:srgbClr val="405449"/>
                </a:solidFill>
                <a:latin typeface="Nobile" pitchFamily="34" charset="0"/>
                <a:ea typeface="Nobile" pitchFamily="34" charset="-122"/>
                <a:cs typeface="Nobile" pitchFamily="34" charset="-120"/>
              </a:rPr>
              <a:t>Optimizing models for metrics crucial in fraud detection, minimizing both false positives and false negatives.</a:t>
            </a:r>
            <a:endParaRPr lang="en-US" sz="1600" dirty="0"/>
          </a:p>
        </p:txBody>
      </p:sp>
      <p:sp>
        <p:nvSpPr>
          <p:cNvPr id="28" name="Rectangle 27">
            <a:extLst>
              <a:ext uri="{FF2B5EF4-FFF2-40B4-BE49-F238E27FC236}">
                <a16:creationId xmlns:a16="http://schemas.microsoft.com/office/drawing/2014/main" id="{8ADC0F38-B9DE-619A-9916-E868262F38E0}"/>
              </a:ext>
            </a:extLst>
          </p:cNvPr>
          <p:cNvSpPr/>
          <p:nvPr/>
        </p:nvSpPr>
        <p:spPr>
          <a:xfrm>
            <a:off x="12660284" y="7672150"/>
            <a:ext cx="1895301" cy="47432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623768"/>
            <a:ext cx="8822412" cy="708779"/>
          </a:xfrm>
          <a:prstGeom prst="rect">
            <a:avLst/>
          </a:prstGeom>
          <a:noFill/>
          <a:ln/>
        </p:spPr>
        <p:txBody>
          <a:bodyPr wrap="non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Comprehensive Data Overview</a:t>
            </a:r>
            <a:endParaRPr lang="en-US" sz="4450" dirty="0"/>
          </a:p>
        </p:txBody>
      </p:sp>
      <p:sp>
        <p:nvSpPr>
          <p:cNvPr id="3" name="Text 1"/>
          <p:cNvSpPr/>
          <p:nvPr/>
        </p:nvSpPr>
        <p:spPr>
          <a:xfrm>
            <a:off x="793790" y="1786176"/>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Our analysis integrated four distinct datasets to construct a holistic view of provider behavior and identify fraudulent patterns.</a:t>
            </a:r>
            <a:endParaRPr lang="en-US" sz="1750" dirty="0"/>
          </a:p>
        </p:txBody>
      </p:sp>
      <p:sp>
        <p:nvSpPr>
          <p:cNvPr id="4" name="Text 2"/>
          <p:cNvSpPr/>
          <p:nvPr/>
        </p:nvSpPr>
        <p:spPr>
          <a:xfrm>
            <a:off x="793790" y="2971205"/>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405449"/>
                </a:solidFill>
                <a:latin typeface="Nobile" pitchFamily="34" charset="0"/>
                <a:ea typeface="Nobile" pitchFamily="34" charset="-122"/>
                <a:cs typeface="Nobile" pitchFamily="34" charset="-120"/>
              </a:rPr>
              <a:t>Beneficiary Data:</a:t>
            </a:r>
            <a:r>
              <a:rPr lang="en-US" sz="1750" dirty="0">
                <a:solidFill>
                  <a:srgbClr val="405449"/>
                </a:solidFill>
                <a:latin typeface="Nobile" pitchFamily="34" charset="0"/>
                <a:ea typeface="Nobile" pitchFamily="34" charset="-122"/>
                <a:cs typeface="Nobile" pitchFamily="34" charset="-120"/>
              </a:rPr>
              <a:t> Demographic and enrollment information for patients.</a:t>
            </a:r>
            <a:endParaRPr lang="en-US" sz="1750" dirty="0"/>
          </a:p>
        </p:txBody>
      </p:sp>
      <p:sp>
        <p:nvSpPr>
          <p:cNvPr id="5" name="Text 3"/>
          <p:cNvSpPr/>
          <p:nvPr/>
        </p:nvSpPr>
        <p:spPr>
          <a:xfrm>
            <a:off x="793790" y="3776305"/>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405449"/>
                </a:solidFill>
                <a:latin typeface="Nobile" pitchFamily="34" charset="0"/>
                <a:ea typeface="Nobile" pitchFamily="34" charset="-122"/>
                <a:cs typeface="Nobile" pitchFamily="34" charset="-120"/>
              </a:rPr>
              <a:t>Inpatient Claims:</a:t>
            </a:r>
            <a:r>
              <a:rPr lang="en-US" sz="1750" dirty="0">
                <a:solidFill>
                  <a:srgbClr val="405449"/>
                </a:solidFill>
                <a:latin typeface="Nobile" pitchFamily="34" charset="0"/>
                <a:ea typeface="Nobile" pitchFamily="34" charset="-122"/>
                <a:cs typeface="Nobile" pitchFamily="34" charset="-120"/>
              </a:rPr>
              <a:t> Detailed records of services provided during hospital stays.</a:t>
            </a:r>
            <a:endParaRPr lang="en-US" sz="1750" dirty="0"/>
          </a:p>
        </p:txBody>
      </p:sp>
      <p:sp>
        <p:nvSpPr>
          <p:cNvPr id="6" name="Text 4"/>
          <p:cNvSpPr/>
          <p:nvPr/>
        </p:nvSpPr>
        <p:spPr>
          <a:xfrm>
            <a:off x="793790" y="4581406"/>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405449"/>
                </a:solidFill>
                <a:latin typeface="Nobile" pitchFamily="34" charset="0"/>
                <a:ea typeface="Nobile" pitchFamily="34" charset="-122"/>
                <a:cs typeface="Nobile" pitchFamily="34" charset="-120"/>
              </a:rPr>
              <a:t>Outpatient Claims:</a:t>
            </a:r>
            <a:r>
              <a:rPr lang="en-US" sz="1750" dirty="0">
                <a:solidFill>
                  <a:srgbClr val="405449"/>
                </a:solidFill>
                <a:latin typeface="Nobile" pitchFamily="34" charset="0"/>
                <a:ea typeface="Nobile" pitchFamily="34" charset="-122"/>
                <a:cs typeface="Nobile" pitchFamily="34" charset="-120"/>
              </a:rPr>
              <a:t> Records of services provided in non-inpatient settings.</a:t>
            </a:r>
            <a:endParaRPr lang="en-US" sz="1750" dirty="0"/>
          </a:p>
        </p:txBody>
      </p:sp>
      <p:sp>
        <p:nvSpPr>
          <p:cNvPr id="7" name="Text 5"/>
          <p:cNvSpPr/>
          <p:nvPr/>
        </p:nvSpPr>
        <p:spPr>
          <a:xfrm>
            <a:off x="793790" y="5386507"/>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405449"/>
                </a:solidFill>
                <a:latin typeface="Nobile" pitchFamily="34" charset="0"/>
                <a:ea typeface="Nobile" pitchFamily="34" charset="-122"/>
                <a:cs typeface="Nobile" pitchFamily="34" charset="-120"/>
              </a:rPr>
              <a:t>Provider Fraud Labels:</a:t>
            </a:r>
            <a:r>
              <a:rPr lang="en-US" sz="1750" dirty="0">
                <a:solidFill>
                  <a:srgbClr val="405449"/>
                </a:solidFill>
                <a:latin typeface="Nobile" pitchFamily="34" charset="0"/>
                <a:ea typeface="Nobile" pitchFamily="34" charset="-122"/>
                <a:cs typeface="Nobile" pitchFamily="34" charset="-120"/>
              </a:rPr>
              <a:t> Ground truth data indicating known fraudulent providers.</a:t>
            </a:r>
            <a:endParaRPr lang="en-US" sz="1750" dirty="0"/>
          </a:p>
        </p:txBody>
      </p:sp>
      <p:sp>
        <p:nvSpPr>
          <p:cNvPr id="8" name="Text 6"/>
          <p:cNvSpPr/>
          <p:nvPr/>
        </p:nvSpPr>
        <p:spPr>
          <a:xfrm>
            <a:off x="793790" y="6316385"/>
            <a:ext cx="7604284" cy="1088708"/>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With a fraud rate of </a:t>
            </a:r>
            <a:r>
              <a:rPr lang="en-US" sz="1750" b="1" dirty="0">
                <a:solidFill>
                  <a:srgbClr val="405449"/>
                </a:solidFill>
                <a:latin typeface="Nobile" pitchFamily="34" charset="0"/>
                <a:ea typeface="Nobile" pitchFamily="34" charset="-122"/>
                <a:cs typeface="Nobile" pitchFamily="34" charset="-120"/>
              </a:rPr>
              <a:t>506 out of 5410 providers</a:t>
            </a:r>
            <a:r>
              <a:rPr lang="en-US" sz="1750" dirty="0">
                <a:solidFill>
                  <a:srgbClr val="405449"/>
                </a:solidFill>
                <a:latin typeface="Nobile" pitchFamily="34" charset="0"/>
                <a:ea typeface="Nobile" pitchFamily="34" charset="-122"/>
                <a:cs typeface="Nobile" pitchFamily="34" charset="-120"/>
              </a:rPr>
              <a:t>, approximately </a:t>
            </a:r>
            <a:r>
              <a:rPr lang="en-US" sz="1750" b="1" dirty="0">
                <a:solidFill>
                  <a:srgbClr val="405449"/>
                </a:solidFill>
                <a:latin typeface="Nobile" pitchFamily="34" charset="0"/>
                <a:ea typeface="Nobile" pitchFamily="34" charset="-122"/>
                <a:cs typeface="Nobile" pitchFamily="34" charset="-120"/>
              </a:rPr>
              <a:t>9.35%</a:t>
            </a:r>
            <a:r>
              <a:rPr lang="en-US" sz="1750" dirty="0">
                <a:solidFill>
                  <a:srgbClr val="405449"/>
                </a:solidFill>
                <a:latin typeface="Nobile" pitchFamily="34" charset="0"/>
                <a:ea typeface="Nobile" pitchFamily="34" charset="-122"/>
                <a:cs typeface="Nobile" pitchFamily="34" charset="-120"/>
              </a:rPr>
              <a:t> of providers were labeled as fraudulent, highlighting the class imbalance challenge.</a:t>
            </a:r>
            <a:endParaRPr lang="en-US" sz="1750" dirty="0"/>
          </a:p>
        </p:txBody>
      </p:sp>
      <p:pic>
        <p:nvPicPr>
          <p:cNvPr id="9" name="Image 0" descr="preencoded.png"/>
          <p:cNvPicPr>
            <a:picLocks noChangeAspect="1"/>
          </p:cNvPicPr>
          <p:nvPr/>
        </p:nvPicPr>
        <p:blipFill>
          <a:blip r:embed="rId3"/>
          <a:stretch>
            <a:fillRect/>
          </a:stretch>
        </p:blipFill>
        <p:spPr>
          <a:xfrm>
            <a:off x="8959096" y="3022283"/>
            <a:ext cx="4885015" cy="2735580"/>
          </a:xfrm>
          <a:prstGeom prst="rect">
            <a:avLst/>
          </a:prstGeom>
        </p:spPr>
      </p:pic>
      <p:sp>
        <p:nvSpPr>
          <p:cNvPr id="10" name="Text 7"/>
          <p:cNvSpPr/>
          <p:nvPr/>
        </p:nvSpPr>
        <p:spPr>
          <a:xfrm>
            <a:off x="8959096" y="6013013"/>
            <a:ext cx="4885015" cy="290274"/>
          </a:xfrm>
          <a:prstGeom prst="rect">
            <a:avLst/>
          </a:prstGeom>
          <a:noFill/>
          <a:ln/>
        </p:spPr>
        <p:txBody>
          <a:bodyPr wrap="none" lIns="0" tIns="0" rIns="0" bIns="0" rtlCol="0" anchor="t"/>
          <a:lstStyle/>
          <a:p>
            <a:pPr marL="0" indent="0" algn="l">
              <a:lnSpc>
                <a:spcPts val="2250"/>
              </a:lnSpc>
              <a:buNone/>
            </a:pPr>
            <a:r>
              <a:rPr lang="en-US" sz="1400" dirty="0">
                <a:solidFill>
                  <a:srgbClr val="405449"/>
                </a:solidFill>
                <a:latin typeface="Nobile" pitchFamily="34" charset="0"/>
                <a:ea typeface="Nobile" pitchFamily="34" charset="-122"/>
                <a:cs typeface="Nobile" pitchFamily="34" charset="-120"/>
              </a:rPr>
              <a:t>Fraud rate 9.35</a:t>
            </a:r>
            <a:endParaRPr lang="en-US" sz="1400" dirty="0"/>
          </a:p>
        </p:txBody>
      </p:sp>
      <p:sp>
        <p:nvSpPr>
          <p:cNvPr id="11" name="Rectangle 10">
            <a:extLst>
              <a:ext uri="{FF2B5EF4-FFF2-40B4-BE49-F238E27FC236}">
                <a16:creationId xmlns:a16="http://schemas.microsoft.com/office/drawing/2014/main" id="{2DD7D9A8-DF31-667B-052C-3C201AB476E8}"/>
              </a:ext>
            </a:extLst>
          </p:cNvPr>
          <p:cNvSpPr/>
          <p:nvPr/>
        </p:nvSpPr>
        <p:spPr>
          <a:xfrm>
            <a:off x="12660284" y="7672150"/>
            <a:ext cx="1895301" cy="47432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77240" y="610672"/>
            <a:ext cx="13075920" cy="1387793"/>
          </a:xfrm>
          <a:prstGeom prst="rect">
            <a:avLst/>
          </a:prstGeom>
          <a:noFill/>
          <a:ln/>
        </p:spPr>
        <p:txBody>
          <a:bodyPr wrap="square" lIns="0" tIns="0" rIns="0" bIns="0" rtlCol="0" anchor="t"/>
          <a:lstStyle/>
          <a:p>
            <a:pPr marL="0" indent="0" algn="l">
              <a:lnSpc>
                <a:spcPts val="5450"/>
              </a:lnSpc>
              <a:buNone/>
            </a:pPr>
            <a:r>
              <a:rPr lang="en-US" sz="4350" b="1" dirty="0">
                <a:solidFill>
                  <a:srgbClr val="3B4540"/>
                </a:solidFill>
                <a:latin typeface="Fraunces Extra Bold" pitchFamily="34" charset="0"/>
                <a:ea typeface="Fraunces Extra Bold" pitchFamily="34" charset="-122"/>
                <a:cs typeface="Fraunces Extra Bold" pitchFamily="34" charset="-120"/>
              </a:rPr>
              <a:t>Strategic Data Preparation for Robust Modeling</a:t>
            </a:r>
            <a:endParaRPr lang="en-US" sz="4350" dirty="0"/>
          </a:p>
        </p:txBody>
      </p:sp>
      <p:sp>
        <p:nvSpPr>
          <p:cNvPr id="3" name="Text 1"/>
          <p:cNvSpPr/>
          <p:nvPr/>
        </p:nvSpPr>
        <p:spPr>
          <a:xfrm>
            <a:off x="777240" y="2331601"/>
            <a:ext cx="13075920" cy="710565"/>
          </a:xfrm>
          <a:prstGeom prst="rect">
            <a:avLst/>
          </a:prstGeom>
          <a:noFill/>
          <a:ln/>
        </p:spPr>
        <p:txBody>
          <a:bodyPr wrap="square" lIns="0" tIns="0" rIns="0" bIns="0" rtlCol="0" anchor="t"/>
          <a:lstStyle/>
          <a:p>
            <a:pPr marL="0" indent="0" algn="l">
              <a:lnSpc>
                <a:spcPts val="2750"/>
              </a:lnSpc>
              <a:buNone/>
            </a:pPr>
            <a:r>
              <a:rPr lang="en-US" sz="1700" dirty="0">
                <a:solidFill>
                  <a:srgbClr val="405449"/>
                </a:solidFill>
                <a:latin typeface="Nobile" pitchFamily="34" charset="0"/>
                <a:ea typeface="Nobile" pitchFamily="34" charset="-122"/>
                <a:cs typeface="Nobile" pitchFamily="34" charset="-120"/>
              </a:rPr>
              <a:t>Rigorous data cleaning and transformation were essential to ensure the quality and consistency of our feature set, preparing it for machine learning analysis.</a:t>
            </a:r>
            <a:endParaRPr lang="en-US" sz="1700" dirty="0"/>
          </a:p>
        </p:txBody>
      </p:sp>
      <p:sp>
        <p:nvSpPr>
          <p:cNvPr id="4" name="Text 2"/>
          <p:cNvSpPr/>
          <p:nvPr/>
        </p:nvSpPr>
        <p:spPr>
          <a:xfrm>
            <a:off x="777240" y="3291959"/>
            <a:ext cx="222052" cy="277535"/>
          </a:xfrm>
          <a:prstGeom prst="rect">
            <a:avLst/>
          </a:prstGeom>
          <a:noFill/>
          <a:ln/>
        </p:spPr>
        <p:txBody>
          <a:bodyPr wrap="none" lIns="0" tIns="0" rIns="0" bIns="0" rtlCol="0" anchor="t"/>
          <a:lstStyle/>
          <a:p>
            <a:pPr marL="0" indent="0" algn="l">
              <a:lnSpc>
                <a:spcPts val="2750"/>
              </a:lnSpc>
              <a:buNone/>
            </a:pPr>
            <a:r>
              <a:rPr lang="en-US" sz="1700" dirty="0">
                <a:solidFill>
                  <a:srgbClr val="405449"/>
                </a:solidFill>
                <a:latin typeface="Fraunces Light" pitchFamily="34" charset="0"/>
                <a:ea typeface="Fraunces Light" pitchFamily="34" charset="-122"/>
                <a:cs typeface="Fraunces Light" pitchFamily="34" charset="-120"/>
              </a:rPr>
              <a:t>01</a:t>
            </a:r>
            <a:endParaRPr lang="en-US" sz="1700" dirty="0"/>
          </a:p>
        </p:txBody>
      </p:sp>
      <p:sp>
        <p:nvSpPr>
          <p:cNvPr id="5" name="Shape 3"/>
          <p:cNvSpPr/>
          <p:nvPr/>
        </p:nvSpPr>
        <p:spPr>
          <a:xfrm>
            <a:off x="777240" y="3638907"/>
            <a:ext cx="6426875" cy="30480"/>
          </a:xfrm>
          <a:prstGeom prst="rect">
            <a:avLst/>
          </a:prstGeom>
          <a:solidFill>
            <a:srgbClr val="438951"/>
          </a:solidFill>
          <a:ln/>
        </p:spPr>
        <p:txBody>
          <a:bodyPr/>
          <a:lstStyle/>
          <a:p>
            <a:endParaRPr lang="en-US"/>
          </a:p>
        </p:txBody>
      </p:sp>
      <p:sp>
        <p:nvSpPr>
          <p:cNvPr id="6" name="Text 4"/>
          <p:cNvSpPr/>
          <p:nvPr/>
        </p:nvSpPr>
        <p:spPr>
          <a:xfrm>
            <a:off x="777240" y="3810833"/>
            <a:ext cx="3619381" cy="347067"/>
          </a:xfrm>
          <a:prstGeom prst="rect">
            <a:avLst/>
          </a:prstGeom>
          <a:noFill/>
          <a:ln/>
        </p:spPr>
        <p:txBody>
          <a:bodyPr wrap="none" lIns="0" tIns="0" rIns="0" bIns="0" rtlCol="0" anchor="t"/>
          <a:lstStyle/>
          <a:p>
            <a:pPr marL="0" indent="0" algn="l">
              <a:lnSpc>
                <a:spcPts val="2700"/>
              </a:lnSpc>
              <a:buNone/>
            </a:pPr>
            <a:r>
              <a:rPr lang="en-US" sz="2150" b="1" dirty="0">
                <a:solidFill>
                  <a:srgbClr val="405449"/>
                </a:solidFill>
                <a:latin typeface="Fraunces Extra Bold" pitchFamily="34" charset="0"/>
                <a:ea typeface="Fraunces Extra Bold" pitchFamily="34" charset="-122"/>
                <a:cs typeface="Fraunces Extra Bold" pitchFamily="34" charset="-120"/>
              </a:rPr>
              <a:t>Missing Value Imputation</a:t>
            </a:r>
            <a:endParaRPr lang="en-US" sz="2150" dirty="0"/>
          </a:p>
        </p:txBody>
      </p:sp>
      <p:sp>
        <p:nvSpPr>
          <p:cNvPr id="7" name="Text 5"/>
          <p:cNvSpPr/>
          <p:nvPr/>
        </p:nvSpPr>
        <p:spPr>
          <a:xfrm>
            <a:off x="777240" y="4291132"/>
            <a:ext cx="6426875" cy="710565"/>
          </a:xfrm>
          <a:prstGeom prst="rect">
            <a:avLst/>
          </a:prstGeom>
          <a:noFill/>
          <a:ln/>
        </p:spPr>
        <p:txBody>
          <a:bodyPr wrap="square" lIns="0" tIns="0" rIns="0" bIns="0" rtlCol="0" anchor="t"/>
          <a:lstStyle/>
          <a:p>
            <a:pPr marL="0" indent="0" algn="l">
              <a:lnSpc>
                <a:spcPts val="2750"/>
              </a:lnSpc>
              <a:buNone/>
            </a:pPr>
            <a:r>
              <a:rPr lang="en-US" sz="1700" dirty="0">
                <a:solidFill>
                  <a:srgbClr val="405449"/>
                </a:solidFill>
                <a:latin typeface="Nobile" pitchFamily="34" charset="0"/>
                <a:ea typeface="Nobile" pitchFamily="34" charset="-122"/>
                <a:cs typeface="Nobile" pitchFamily="34" charset="-120"/>
              </a:rPr>
              <a:t>Addressed gaps in data, such as deductibles, using appropriate imputation techniques.</a:t>
            </a:r>
            <a:endParaRPr lang="en-US" sz="1700" dirty="0"/>
          </a:p>
        </p:txBody>
      </p:sp>
      <p:sp>
        <p:nvSpPr>
          <p:cNvPr id="8" name="Text 6"/>
          <p:cNvSpPr/>
          <p:nvPr/>
        </p:nvSpPr>
        <p:spPr>
          <a:xfrm>
            <a:off x="7426166" y="3291959"/>
            <a:ext cx="222052" cy="277535"/>
          </a:xfrm>
          <a:prstGeom prst="rect">
            <a:avLst/>
          </a:prstGeom>
          <a:noFill/>
          <a:ln/>
        </p:spPr>
        <p:txBody>
          <a:bodyPr wrap="none" lIns="0" tIns="0" rIns="0" bIns="0" rtlCol="0" anchor="t"/>
          <a:lstStyle/>
          <a:p>
            <a:pPr marL="0" indent="0" algn="l">
              <a:lnSpc>
                <a:spcPts val="2750"/>
              </a:lnSpc>
              <a:buNone/>
            </a:pPr>
            <a:r>
              <a:rPr lang="en-US" sz="1700" dirty="0">
                <a:solidFill>
                  <a:srgbClr val="405449"/>
                </a:solidFill>
                <a:latin typeface="Fraunces Light" pitchFamily="34" charset="0"/>
                <a:ea typeface="Fraunces Light" pitchFamily="34" charset="-122"/>
                <a:cs typeface="Fraunces Light" pitchFamily="34" charset="-120"/>
              </a:rPr>
              <a:t>02</a:t>
            </a:r>
            <a:endParaRPr lang="en-US" sz="1700" dirty="0"/>
          </a:p>
        </p:txBody>
      </p:sp>
      <p:sp>
        <p:nvSpPr>
          <p:cNvPr id="9" name="Shape 7"/>
          <p:cNvSpPr/>
          <p:nvPr/>
        </p:nvSpPr>
        <p:spPr>
          <a:xfrm>
            <a:off x="7426166" y="3638907"/>
            <a:ext cx="6426994" cy="30480"/>
          </a:xfrm>
          <a:prstGeom prst="rect">
            <a:avLst/>
          </a:prstGeom>
          <a:solidFill>
            <a:srgbClr val="438951"/>
          </a:solidFill>
          <a:ln/>
        </p:spPr>
        <p:txBody>
          <a:bodyPr/>
          <a:lstStyle/>
          <a:p>
            <a:endParaRPr lang="en-US"/>
          </a:p>
        </p:txBody>
      </p:sp>
      <p:sp>
        <p:nvSpPr>
          <p:cNvPr id="10" name="Text 8"/>
          <p:cNvSpPr/>
          <p:nvPr/>
        </p:nvSpPr>
        <p:spPr>
          <a:xfrm>
            <a:off x="7426166" y="3810833"/>
            <a:ext cx="3019782" cy="347067"/>
          </a:xfrm>
          <a:prstGeom prst="rect">
            <a:avLst/>
          </a:prstGeom>
          <a:noFill/>
          <a:ln/>
        </p:spPr>
        <p:txBody>
          <a:bodyPr wrap="none" lIns="0" tIns="0" rIns="0" bIns="0" rtlCol="0" anchor="t"/>
          <a:lstStyle/>
          <a:p>
            <a:pPr marL="0" indent="0" algn="l">
              <a:lnSpc>
                <a:spcPts val="2700"/>
              </a:lnSpc>
              <a:buNone/>
            </a:pPr>
            <a:r>
              <a:rPr lang="en-US" sz="2150" b="1" dirty="0">
                <a:solidFill>
                  <a:srgbClr val="405449"/>
                </a:solidFill>
                <a:latin typeface="Fraunces Extra Bold" pitchFamily="34" charset="0"/>
                <a:ea typeface="Fraunces Extra Bold" pitchFamily="34" charset="-122"/>
                <a:cs typeface="Fraunces Extra Bold" pitchFamily="34" charset="-120"/>
              </a:rPr>
              <a:t>Sparse Code Removal</a:t>
            </a:r>
            <a:endParaRPr lang="en-US" sz="2150" dirty="0"/>
          </a:p>
        </p:txBody>
      </p:sp>
      <p:sp>
        <p:nvSpPr>
          <p:cNvPr id="11" name="Text 9"/>
          <p:cNvSpPr/>
          <p:nvPr/>
        </p:nvSpPr>
        <p:spPr>
          <a:xfrm>
            <a:off x="7426166" y="4291132"/>
            <a:ext cx="6426994" cy="710565"/>
          </a:xfrm>
          <a:prstGeom prst="rect">
            <a:avLst/>
          </a:prstGeom>
          <a:noFill/>
          <a:ln/>
        </p:spPr>
        <p:txBody>
          <a:bodyPr wrap="square" lIns="0" tIns="0" rIns="0" bIns="0" rtlCol="0" anchor="t"/>
          <a:lstStyle/>
          <a:p>
            <a:pPr marL="0" indent="0" algn="l">
              <a:lnSpc>
                <a:spcPts val="2750"/>
              </a:lnSpc>
              <a:buNone/>
            </a:pPr>
            <a:r>
              <a:rPr lang="en-US" sz="1700" dirty="0">
                <a:solidFill>
                  <a:srgbClr val="405449"/>
                </a:solidFill>
                <a:latin typeface="Nobile" pitchFamily="34" charset="0"/>
                <a:ea typeface="Nobile" pitchFamily="34" charset="-122"/>
                <a:cs typeface="Nobile" pitchFamily="34" charset="-120"/>
              </a:rPr>
              <a:t>Eliminated diagnosis and procedure codes with very low occurrence to reduce noise and dimensionality.</a:t>
            </a:r>
            <a:endParaRPr lang="en-US" sz="1700" dirty="0"/>
          </a:p>
        </p:txBody>
      </p:sp>
      <p:sp>
        <p:nvSpPr>
          <p:cNvPr id="12" name="Text 10"/>
          <p:cNvSpPr/>
          <p:nvPr/>
        </p:nvSpPr>
        <p:spPr>
          <a:xfrm>
            <a:off x="777240" y="5390317"/>
            <a:ext cx="222052" cy="277535"/>
          </a:xfrm>
          <a:prstGeom prst="rect">
            <a:avLst/>
          </a:prstGeom>
          <a:noFill/>
          <a:ln/>
        </p:spPr>
        <p:txBody>
          <a:bodyPr wrap="none" lIns="0" tIns="0" rIns="0" bIns="0" rtlCol="0" anchor="t"/>
          <a:lstStyle/>
          <a:p>
            <a:pPr marL="0" indent="0" algn="l">
              <a:lnSpc>
                <a:spcPts val="2750"/>
              </a:lnSpc>
              <a:buNone/>
            </a:pPr>
            <a:r>
              <a:rPr lang="en-US" sz="1700" dirty="0">
                <a:solidFill>
                  <a:srgbClr val="405449"/>
                </a:solidFill>
                <a:latin typeface="Fraunces Light" pitchFamily="34" charset="0"/>
                <a:ea typeface="Fraunces Light" pitchFamily="34" charset="-122"/>
                <a:cs typeface="Fraunces Light" pitchFamily="34" charset="-120"/>
              </a:rPr>
              <a:t>03</a:t>
            </a:r>
            <a:endParaRPr lang="en-US" sz="1700" dirty="0"/>
          </a:p>
        </p:txBody>
      </p:sp>
      <p:sp>
        <p:nvSpPr>
          <p:cNvPr id="13" name="Shape 11"/>
          <p:cNvSpPr/>
          <p:nvPr/>
        </p:nvSpPr>
        <p:spPr>
          <a:xfrm>
            <a:off x="777240" y="5737265"/>
            <a:ext cx="6426875" cy="30480"/>
          </a:xfrm>
          <a:prstGeom prst="rect">
            <a:avLst/>
          </a:prstGeom>
          <a:solidFill>
            <a:srgbClr val="438951"/>
          </a:solidFill>
          <a:ln/>
        </p:spPr>
        <p:txBody>
          <a:bodyPr/>
          <a:lstStyle/>
          <a:p>
            <a:endParaRPr lang="en-US"/>
          </a:p>
        </p:txBody>
      </p:sp>
      <p:sp>
        <p:nvSpPr>
          <p:cNvPr id="14" name="Text 12"/>
          <p:cNvSpPr/>
          <p:nvPr/>
        </p:nvSpPr>
        <p:spPr>
          <a:xfrm>
            <a:off x="777240" y="5909191"/>
            <a:ext cx="4537234" cy="347067"/>
          </a:xfrm>
          <a:prstGeom prst="rect">
            <a:avLst/>
          </a:prstGeom>
          <a:noFill/>
          <a:ln/>
        </p:spPr>
        <p:txBody>
          <a:bodyPr wrap="none" lIns="0" tIns="0" rIns="0" bIns="0" rtlCol="0" anchor="t"/>
          <a:lstStyle/>
          <a:p>
            <a:pPr marL="0" indent="0" algn="l">
              <a:lnSpc>
                <a:spcPts val="2700"/>
              </a:lnSpc>
              <a:buNone/>
            </a:pPr>
            <a:r>
              <a:rPr lang="en-US" sz="2150" b="1" dirty="0">
                <a:solidFill>
                  <a:srgbClr val="405449"/>
                </a:solidFill>
                <a:latin typeface="Fraunces Extra Bold" pitchFamily="34" charset="0"/>
                <a:ea typeface="Fraunces Extra Bold" pitchFamily="34" charset="-122"/>
                <a:cs typeface="Fraunces Extra Bold" pitchFamily="34" charset="-120"/>
              </a:rPr>
              <a:t>Data Standardization &amp; Merging</a:t>
            </a:r>
            <a:endParaRPr lang="en-US" sz="2150" dirty="0"/>
          </a:p>
        </p:txBody>
      </p:sp>
      <p:sp>
        <p:nvSpPr>
          <p:cNvPr id="15" name="Text 13"/>
          <p:cNvSpPr/>
          <p:nvPr/>
        </p:nvSpPr>
        <p:spPr>
          <a:xfrm>
            <a:off x="777240" y="6389489"/>
            <a:ext cx="6426875" cy="710565"/>
          </a:xfrm>
          <a:prstGeom prst="rect">
            <a:avLst/>
          </a:prstGeom>
          <a:noFill/>
          <a:ln/>
        </p:spPr>
        <p:txBody>
          <a:bodyPr wrap="square" lIns="0" tIns="0" rIns="0" bIns="0" rtlCol="0" anchor="t"/>
          <a:lstStyle/>
          <a:p>
            <a:pPr marL="0" indent="0" algn="l">
              <a:lnSpc>
                <a:spcPts val="2750"/>
              </a:lnSpc>
              <a:buNone/>
            </a:pPr>
            <a:r>
              <a:rPr lang="en-US" sz="1700" dirty="0">
                <a:solidFill>
                  <a:srgbClr val="405449"/>
                </a:solidFill>
                <a:latin typeface="Nobile" pitchFamily="34" charset="0"/>
                <a:ea typeface="Nobile" pitchFamily="34" charset="-122"/>
                <a:cs typeface="Nobile" pitchFamily="34" charset="-120"/>
              </a:rPr>
              <a:t>Ensured consistent naming conventions and successfully integrated all disparate datasets.</a:t>
            </a:r>
            <a:endParaRPr lang="en-US" sz="1700" dirty="0"/>
          </a:p>
        </p:txBody>
      </p:sp>
      <p:sp>
        <p:nvSpPr>
          <p:cNvPr id="16" name="Text 14"/>
          <p:cNvSpPr/>
          <p:nvPr/>
        </p:nvSpPr>
        <p:spPr>
          <a:xfrm>
            <a:off x="7426166" y="5390317"/>
            <a:ext cx="222052" cy="277535"/>
          </a:xfrm>
          <a:prstGeom prst="rect">
            <a:avLst/>
          </a:prstGeom>
          <a:noFill/>
          <a:ln/>
        </p:spPr>
        <p:txBody>
          <a:bodyPr wrap="none" lIns="0" tIns="0" rIns="0" bIns="0" rtlCol="0" anchor="t"/>
          <a:lstStyle/>
          <a:p>
            <a:pPr marL="0" indent="0" algn="l">
              <a:lnSpc>
                <a:spcPts val="2750"/>
              </a:lnSpc>
              <a:buNone/>
            </a:pPr>
            <a:r>
              <a:rPr lang="en-US" sz="1700" dirty="0">
                <a:solidFill>
                  <a:srgbClr val="405449"/>
                </a:solidFill>
                <a:latin typeface="Fraunces Light" pitchFamily="34" charset="0"/>
                <a:ea typeface="Fraunces Light" pitchFamily="34" charset="-122"/>
                <a:cs typeface="Fraunces Light" pitchFamily="34" charset="-120"/>
              </a:rPr>
              <a:t>04</a:t>
            </a:r>
            <a:endParaRPr lang="en-US" sz="1700" dirty="0"/>
          </a:p>
        </p:txBody>
      </p:sp>
      <p:sp>
        <p:nvSpPr>
          <p:cNvPr id="17" name="Shape 15"/>
          <p:cNvSpPr/>
          <p:nvPr/>
        </p:nvSpPr>
        <p:spPr>
          <a:xfrm>
            <a:off x="7426166" y="5737265"/>
            <a:ext cx="6426994" cy="30480"/>
          </a:xfrm>
          <a:prstGeom prst="rect">
            <a:avLst/>
          </a:prstGeom>
          <a:solidFill>
            <a:srgbClr val="438951"/>
          </a:solidFill>
          <a:ln/>
        </p:spPr>
        <p:txBody>
          <a:bodyPr/>
          <a:lstStyle/>
          <a:p>
            <a:endParaRPr lang="en-US"/>
          </a:p>
        </p:txBody>
      </p:sp>
      <p:sp>
        <p:nvSpPr>
          <p:cNvPr id="18" name="Text 16"/>
          <p:cNvSpPr/>
          <p:nvPr/>
        </p:nvSpPr>
        <p:spPr>
          <a:xfrm>
            <a:off x="7426166" y="5909191"/>
            <a:ext cx="3908584" cy="347067"/>
          </a:xfrm>
          <a:prstGeom prst="rect">
            <a:avLst/>
          </a:prstGeom>
          <a:noFill/>
          <a:ln/>
        </p:spPr>
        <p:txBody>
          <a:bodyPr wrap="none" lIns="0" tIns="0" rIns="0" bIns="0" rtlCol="0" anchor="t"/>
          <a:lstStyle/>
          <a:p>
            <a:pPr marL="0" indent="0" algn="l">
              <a:lnSpc>
                <a:spcPts val="2700"/>
              </a:lnSpc>
              <a:buNone/>
            </a:pPr>
            <a:r>
              <a:rPr lang="en-US" sz="2150" b="1" dirty="0">
                <a:solidFill>
                  <a:srgbClr val="405449"/>
                </a:solidFill>
                <a:latin typeface="Fraunces Extra Bold" pitchFamily="34" charset="0"/>
                <a:ea typeface="Fraunces Extra Bold" pitchFamily="34" charset="-122"/>
                <a:cs typeface="Fraunces Extra Bold" pitchFamily="34" charset="-120"/>
              </a:rPr>
              <a:t>Provider-Level Aggregation</a:t>
            </a:r>
            <a:endParaRPr lang="en-US" sz="2150" dirty="0"/>
          </a:p>
        </p:txBody>
      </p:sp>
      <p:sp>
        <p:nvSpPr>
          <p:cNvPr id="19" name="Text 17"/>
          <p:cNvSpPr/>
          <p:nvPr/>
        </p:nvSpPr>
        <p:spPr>
          <a:xfrm>
            <a:off x="7426166" y="6389489"/>
            <a:ext cx="6426994" cy="1065848"/>
          </a:xfrm>
          <a:prstGeom prst="rect">
            <a:avLst/>
          </a:prstGeom>
          <a:noFill/>
          <a:ln/>
        </p:spPr>
        <p:txBody>
          <a:bodyPr wrap="square" lIns="0" tIns="0" rIns="0" bIns="0" rtlCol="0" anchor="t"/>
          <a:lstStyle/>
          <a:p>
            <a:pPr marL="0" indent="0" algn="l">
              <a:lnSpc>
                <a:spcPts val="2750"/>
              </a:lnSpc>
              <a:buNone/>
            </a:pPr>
            <a:r>
              <a:rPr lang="en-US" sz="1700" dirty="0">
                <a:solidFill>
                  <a:srgbClr val="405449"/>
                </a:solidFill>
                <a:latin typeface="Nobile" pitchFamily="34" charset="0"/>
                <a:ea typeface="Nobile" pitchFamily="34" charset="-122"/>
                <a:cs typeface="Nobile" pitchFamily="34" charset="-120"/>
              </a:rPr>
              <a:t>Transformed raw claims data into a rich set of features aggregated at the individual provider level, forming the core unit of our modeling.</a:t>
            </a:r>
            <a:endParaRPr lang="en-US" sz="1700" dirty="0"/>
          </a:p>
        </p:txBody>
      </p:sp>
      <p:sp>
        <p:nvSpPr>
          <p:cNvPr id="20" name="Rectangle 19">
            <a:extLst>
              <a:ext uri="{FF2B5EF4-FFF2-40B4-BE49-F238E27FC236}">
                <a16:creationId xmlns:a16="http://schemas.microsoft.com/office/drawing/2014/main" id="{7F404394-751B-F9FF-6116-978928E6F2D1}"/>
              </a:ext>
            </a:extLst>
          </p:cNvPr>
          <p:cNvSpPr/>
          <p:nvPr/>
        </p:nvSpPr>
        <p:spPr>
          <a:xfrm>
            <a:off x="12660284" y="7672150"/>
            <a:ext cx="1895301" cy="47432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7345" y="844629"/>
            <a:ext cx="12456676" cy="595908"/>
          </a:xfrm>
          <a:prstGeom prst="rect">
            <a:avLst/>
          </a:prstGeom>
          <a:noFill/>
          <a:ln/>
        </p:spPr>
        <p:txBody>
          <a:bodyPr wrap="none" lIns="0" tIns="0" rIns="0" bIns="0" rtlCol="0" anchor="t"/>
          <a:lstStyle/>
          <a:p>
            <a:pPr marL="0" indent="0" algn="l">
              <a:lnSpc>
                <a:spcPts val="4650"/>
              </a:lnSpc>
              <a:buNone/>
            </a:pPr>
            <a:r>
              <a:rPr lang="en-US" sz="3750" b="1" dirty="0">
                <a:solidFill>
                  <a:srgbClr val="3B4540"/>
                </a:solidFill>
                <a:latin typeface="Fraunces Extra Bold" pitchFamily="34" charset="0"/>
                <a:ea typeface="Fraunces Extra Bold" pitchFamily="34" charset="-122"/>
                <a:cs typeface="Fraunces Extra Bold" pitchFamily="34" charset="-120"/>
              </a:rPr>
              <a:t>Feature Engineering: Unveiling Behavioral Patterns</a:t>
            </a:r>
            <a:endParaRPr lang="en-US" sz="3750" dirty="0"/>
          </a:p>
        </p:txBody>
      </p:sp>
      <p:sp>
        <p:nvSpPr>
          <p:cNvPr id="3" name="Text 1"/>
          <p:cNvSpPr/>
          <p:nvPr/>
        </p:nvSpPr>
        <p:spPr>
          <a:xfrm>
            <a:off x="667345" y="1821894"/>
            <a:ext cx="13295709" cy="305157"/>
          </a:xfrm>
          <a:prstGeom prst="rect">
            <a:avLst/>
          </a:prstGeom>
          <a:noFill/>
          <a:ln/>
        </p:spPr>
        <p:txBody>
          <a:bodyPr wrap="none" lIns="0" tIns="0" rIns="0" bIns="0" rtlCol="0" anchor="t"/>
          <a:lstStyle/>
          <a:p>
            <a:pPr marL="0" indent="0" algn="l">
              <a:lnSpc>
                <a:spcPts val="2400"/>
              </a:lnSpc>
              <a:buNone/>
            </a:pPr>
            <a:r>
              <a:rPr lang="en-US" sz="1500" dirty="0">
                <a:solidFill>
                  <a:srgbClr val="405449"/>
                </a:solidFill>
                <a:latin typeface="Nobile" pitchFamily="34" charset="0"/>
                <a:ea typeface="Nobile" pitchFamily="34" charset="-122"/>
                <a:cs typeface="Nobile" pitchFamily="34" charset="-120"/>
              </a:rPr>
              <a:t>We engineered a suite of provider-level behavioral features designed to capture anomalies indicative of fraudulent activity.</a:t>
            </a:r>
            <a:endParaRPr lang="en-US" sz="1500" dirty="0"/>
          </a:p>
        </p:txBody>
      </p:sp>
      <p:sp>
        <p:nvSpPr>
          <p:cNvPr id="4" name="Shape 2"/>
          <p:cNvSpPr/>
          <p:nvPr/>
        </p:nvSpPr>
        <p:spPr>
          <a:xfrm>
            <a:off x="667345" y="2341483"/>
            <a:ext cx="4304824" cy="2166580"/>
          </a:xfrm>
          <a:prstGeom prst="roundRect">
            <a:avLst>
              <a:gd name="adj" fmla="val 7922"/>
            </a:avLst>
          </a:prstGeom>
          <a:solidFill>
            <a:srgbClr val="E8F3E8"/>
          </a:solidFill>
          <a:ln/>
        </p:spPr>
        <p:txBody>
          <a:bodyPr/>
          <a:lstStyle/>
          <a:p>
            <a:endParaRPr lang="en-US"/>
          </a:p>
        </p:txBody>
      </p:sp>
      <p:sp>
        <p:nvSpPr>
          <p:cNvPr id="5" name="Shape 3"/>
          <p:cNvSpPr/>
          <p:nvPr/>
        </p:nvSpPr>
        <p:spPr>
          <a:xfrm>
            <a:off x="857964" y="2532102"/>
            <a:ext cx="572095" cy="572095"/>
          </a:xfrm>
          <a:prstGeom prst="roundRect">
            <a:avLst>
              <a:gd name="adj" fmla="val 15981761"/>
            </a:avLst>
          </a:prstGeom>
          <a:solidFill>
            <a:srgbClr val="438951"/>
          </a:solidFill>
          <a:ln/>
        </p:spPr>
        <p:txBody>
          <a:bodyPr/>
          <a:lstStyle/>
          <a:p>
            <a:endParaRPr lang="en-US"/>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5246" y="2689384"/>
            <a:ext cx="257413" cy="257413"/>
          </a:xfrm>
          <a:prstGeom prst="rect">
            <a:avLst/>
          </a:prstGeom>
        </p:spPr>
      </p:pic>
      <p:sp>
        <p:nvSpPr>
          <p:cNvPr id="7" name="Text 4"/>
          <p:cNvSpPr/>
          <p:nvPr/>
        </p:nvSpPr>
        <p:spPr>
          <a:xfrm>
            <a:off x="857964" y="3294817"/>
            <a:ext cx="2383750" cy="297894"/>
          </a:xfrm>
          <a:prstGeom prst="rect">
            <a:avLst/>
          </a:prstGeom>
          <a:noFill/>
          <a:ln/>
        </p:spPr>
        <p:txBody>
          <a:bodyPr wrap="none" lIns="0" tIns="0" rIns="0" bIns="0" rtlCol="0" anchor="t"/>
          <a:lstStyle/>
          <a:p>
            <a:pPr marL="0" indent="0" algn="l">
              <a:lnSpc>
                <a:spcPts val="2300"/>
              </a:lnSpc>
              <a:buNone/>
            </a:pPr>
            <a:r>
              <a:rPr lang="en-US" sz="1850" b="1" dirty="0">
                <a:solidFill>
                  <a:srgbClr val="405449"/>
                </a:solidFill>
                <a:latin typeface="Fraunces Extra Bold" pitchFamily="34" charset="0"/>
                <a:ea typeface="Fraunces Extra Bold" pitchFamily="34" charset="-122"/>
                <a:cs typeface="Fraunces Extra Bold" pitchFamily="34" charset="-120"/>
              </a:rPr>
              <a:t>Total Claim Cost</a:t>
            </a:r>
            <a:endParaRPr lang="en-US" sz="1850" dirty="0"/>
          </a:p>
        </p:txBody>
      </p:sp>
      <p:sp>
        <p:nvSpPr>
          <p:cNvPr id="8" name="Text 5"/>
          <p:cNvSpPr/>
          <p:nvPr/>
        </p:nvSpPr>
        <p:spPr>
          <a:xfrm>
            <a:off x="857964" y="3707130"/>
            <a:ext cx="3923586" cy="610314"/>
          </a:xfrm>
          <a:prstGeom prst="rect">
            <a:avLst/>
          </a:prstGeom>
          <a:noFill/>
          <a:ln/>
        </p:spPr>
        <p:txBody>
          <a:bodyPr wrap="square" lIns="0" tIns="0" rIns="0" bIns="0" rtlCol="0" anchor="t"/>
          <a:lstStyle/>
          <a:p>
            <a:pPr marL="0" indent="0" algn="l">
              <a:lnSpc>
                <a:spcPts val="2400"/>
              </a:lnSpc>
              <a:buNone/>
            </a:pPr>
            <a:r>
              <a:rPr lang="en-US" sz="1500" dirty="0">
                <a:solidFill>
                  <a:srgbClr val="405449"/>
                </a:solidFill>
                <a:latin typeface="Nobile" pitchFamily="34" charset="0"/>
                <a:ea typeface="Nobile" pitchFamily="34" charset="-122"/>
                <a:cs typeface="Nobile" pitchFamily="34" charset="-120"/>
              </a:rPr>
              <a:t>Aggregated costs for both inpatient and outpatient services.</a:t>
            </a:r>
            <a:endParaRPr lang="en-US" sz="1500" dirty="0"/>
          </a:p>
        </p:txBody>
      </p:sp>
      <p:sp>
        <p:nvSpPr>
          <p:cNvPr id="9" name="Shape 6"/>
          <p:cNvSpPr/>
          <p:nvPr/>
        </p:nvSpPr>
        <p:spPr>
          <a:xfrm>
            <a:off x="5162788" y="2341483"/>
            <a:ext cx="4304824" cy="2166580"/>
          </a:xfrm>
          <a:prstGeom prst="roundRect">
            <a:avLst>
              <a:gd name="adj" fmla="val 7922"/>
            </a:avLst>
          </a:prstGeom>
          <a:solidFill>
            <a:srgbClr val="E8F3E8"/>
          </a:solidFill>
          <a:ln/>
        </p:spPr>
        <p:txBody>
          <a:bodyPr/>
          <a:lstStyle/>
          <a:p>
            <a:endParaRPr lang="en-US"/>
          </a:p>
        </p:txBody>
      </p:sp>
      <p:sp>
        <p:nvSpPr>
          <p:cNvPr id="10" name="Shape 7"/>
          <p:cNvSpPr/>
          <p:nvPr/>
        </p:nvSpPr>
        <p:spPr>
          <a:xfrm>
            <a:off x="5353407" y="2532102"/>
            <a:ext cx="572095" cy="572095"/>
          </a:xfrm>
          <a:prstGeom prst="roundRect">
            <a:avLst>
              <a:gd name="adj" fmla="val 15981761"/>
            </a:avLst>
          </a:prstGeom>
          <a:solidFill>
            <a:srgbClr val="438951"/>
          </a:solidFill>
          <a:ln/>
        </p:spPr>
        <p:txBody>
          <a:bodyPr/>
          <a:lstStyle/>
          <a:p>
            <a:endParaRPr lang="en-US"/>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10689" y="2689384"/>
            <a:ext cx="257413" cy="257413"/>
          </a:xfrm>
          <a:prstGeom prst="rect">
            <a:avLst/>
          </a:prstGeom>
        </p:spPr>
      </p:pic>
      <p:sp>
        <p:nvSpPr>
          <p:cNvPr id="12" name="Text 8"/>
          <p:cNvSpPr/>
          <p:nvPr/>
        </p:nvSpPr>
        <p:spPr>
          <a:xfrm>
            <a:off x="5353407" y="3294817"/>
            <a:ext cx="2919532" cy="297894"/>
          </a:xfrm>
          <a:prstGeom prst="rect">
            <a:avLst/>
          </a:prstGeom>
          <a:noFill/>
          <a:ln/>
        </p:spPr>
        <p:txBody>
          <a:bodyPr wrap="none" lIns="0" tIns="0" rIns="0" bIns="0" rtlCol="0" anchor="t"/>
          <a:lstStyle/>
          <a:p>
            <a:pPr marL="0" indent="0" algn="l">
              <a:lnSpc>
                <a:spcPts val="2300"/>
              </a:lnSpc>
              <a:buNone/>
            </a:pPr>
            <a:r>
              <a:rPr lang="en-US" sz="1850" b="1" dirty="0">
                <a:solidFill>
                  <a:srgbClr val="405449"/>
                </a:solidFill>
                <a:latin typeface="Fraunces Extra Bold" pitchFamily="34" charset="0"/>
                <a:ea typeface="Fraunces Extra Bold" pitchFamily="34" charset="-122"/>
                <a:cs typeface="Fraunces Extra Bold" pitchFamily="34" charset="-120"/>
              </a:rPr>
              <a:t>Claim-per-Patient Ratio</a:t>
            </a:r>
            <a:endParaRPr lang="en-US" sz="1850" dirty="0"/>
          </a:p>
        </p:txBody>
      </p:sp>
      <p:sp>
        <p:nvSpPr>
          <p:cNvPr id="13" name="Text 9"/>
          <p:cNvSpPr/>
          <p:nvPr/>
        </p:nvSpPr>
        <p:spPr>
          <a:xfrm>
            <a:off x="5353407" y="3707130"/>
            <a:ext cx="3923586" cy="610314"/>
          </a:xfrm>
          <a:prstGeom prst="rect">
            <a:avLst/>
          </a:prstGeom>
          <a:noFill/>
          <a:ln/>
        </p:spPr>
        <p:txBody>
          <a:bodyPr wrap="square" lIns="0" tIns="0" rIns="0" bIns="0" rtlCol="0" anchor="t"/>
          <a:lstStyle/>
          <a:p>
            <a:pPr marL="0" indent="0" algn="l">
              <a:lnSpc>
                <a:spcPts val="2400"/>
              </a:lnSpc>
              <a:buNone/>
            </a:pPr>
            <a:r>
              <a:rPr lang="en-US" sz="1500" dirty="0">
                <a:solidFill>
                  <a:srgbClr val="405449"/>
                </a:solidFill>
                <a:latin typeface="Nobile" pitchFamily="34" charset="0"/>
                <a:ea typeface="Nobile" pitchFamily="34" charset="-122"/>
                <a:cs typeface="Nobile" pitchFamily="34" charset="-120"/>
              </a:rPr>
              <a:t>Measures the average number of claims filed per unique patient.</a:t>
            </a:r>
            <a:endParaRPr lang="en-US" sz="1500" dirty="0"/>
          </a:p>
        </p:txBody>
      </p:sp>
      <p:sp>
        <p:nvSpPr>
          <p:cNvPr id="14" name="Shape 10"/>
          <p:cNvSpPr/>
          <p:nvPr/>
        </p:nvSpPr>
        <p:spPr>
          <a:xfrm>
            <a:off x="9658231" y="2341483"/>
            <a:ext cx="4304824" cy="2166580"/>
          </a:xfrm>
          <a:prstGeom prst="roundRect">
            <a:avLst>
              <a:gd name="adj" fmla="val 7922"/>
            </a:avLst>
          </a:prstGeom>
          <a:solidFill>
            <a:srgbClr val="E8F3E8"/>
          </a:solidFill>
          <a:ln/>
        </p:spPr>
        <p:txBody>
          <a:bodyPr/>
          <a:lstStyle/>
          <a:p>
            <a:endParaRPr lang="en-US"/>
          </a:p>
        </p:txBody>
      </p:sp>
      <p:sp>
        <p:nvSpPr>
          <p:cNvPr id="15" name="Shape 11"/>
          <p:cNvSpPr/>
          <p:nvPr/>
        </p:nvSpPr>
        <p:spPr>
          <a:xfrm>
            <a:off x="9848850" y="2532102"/>
            <a:ext cx="572095" cy="572095"/>
          </a:xfrm>
          <a:prstGeom prst="roundRect">
            <a:avLst>
              <a:gd name="adj" fmla="val 15981761"/>
            </a:avLst>
          </a:prstGeom>
          <a:solidFill>
            <a:srgbClr val="438951"/>
          </a:solidFill>
          <a:ln/>
        </p:spPr>
        <p:txBody>
          <a:bodyPr/>
          <a:lstStyle/>
          <a:p>
            <a:endParaRPr lang="en-US"/>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06132" y="2689384"/>
            <a:ext cx="257413" cy="257413"/>
          </a:xfrm>
          <a:prstGeom prst="rect">
            <a:avLst/>
          </a:prstGeom>
        </p:spPr>
      </p:pic>
      <p:sp>
        <p:nvSpPr>
          <p:cNvPr id="17" name="Text 12"/>
          <p:cNvSpPr/>
          <p:nvPr/>
        </p:nvSpPr>
        <p:spPr>
          <a:xfrm>
            <a:off x="9848850" y="3294817"/>
            <a:ext cx="3266599" cy="297894"/>
          </a:xfrm>
          <a:prstGeom prst="rect">
            <a:avLst/>
          </a:prstGeom>
          <a:noFill/>
          <a:ln/>
        </p:spPr>
        <p:txBody>
          <a:bodyPr wrap="none" lIns="0" tIns="0" rIns="0" bIns="0" rtlCol="0" anchor="t"/>
          <a:lstStyle/>
          <a:p>
            <a:pPr marL="0" indent="0" algn="l">
              <a:lnSpc>
                <a:spcPts val="2300"/>
              </a:lnSpc>
              <a:buNone/>
            </a:pPr>
            <a:r>
              <a:rPr lang="en-US" sz="1850" b="1" dirty="0">
                <a:solidFill>
                  <a:srgbClr val="405449"/>
                </a:solidFill>
                <a:latin typeface="Fraunces Extra Bold" pitchFamily="34" charset="0"/>
                <a:ea typeface="Fraunces Extra Bold" pitchFamily="34" charset="-122"/>
                <a:cs typeface="Fraunces Extra Bold" pitchFamily="34" charset="-120"/>
              </a:rPr>
              <a:t>Number of Unique Patients</a:t>
            </a:r>
            <a:endParaRPr lang="en-US" sz="1850" dirty="0"/>
          </a:p>
        </p:txBody>
      </p:sp>
      <p:sp>
        <p:nvSpPr>
          <p:cNvPr id="18" name="Text 13"/>
          <p:cNvSpPr/>
          <p:nvPr/>
        </p:nvSpPr>
        <p:spPr>
          <a:xfrm>
            <a:off x="9848850" y="3707130"/>
            <a:ext cx="3923586" cy="610314"/>
          </a:xfrm>
          <a:prstGeom prst="rect">
            <a:avLst/>
          </a:prstGeom>
          <a:noFill/>
          <a:ln/>
        </p:spPr>
        <p:txBody>
          <a:bodyPr wrap="square" lIns="0" tIns="0" rIns="0" bIns="0" rtlCol="0" anchor="t"/>
          <a:lstStyle/>
          <a:p>
            <a:pPr marL="0" indent="0" algn="l">
              <a:lnSpc>
                <a:spcPts val="2400"/>
              </a:lnSpc>
              <a:buNone/>
            </a:pPr>
            <a:r>
              <a:rPr lang="en-US" sz="1500" dirty="0">
                <a:solidFill>
                  <a:srgbClr val="405449"/>
                </a:solidFill>
                <a:latin typeface="Nobile" pitchFamily="34" charset="0"/>
                <a:ea typeface="Nobile" pitchFamily="34" charset="-122"/>
                <a:cs typeface="Nobile" pitchFamily="34" charset="-120"/>
              </a:rPr>
              <a:t>Counts distinct patients treated by a provider.</a:t>
            </a:r>
            <a:endParaRPr lang="en-US" sz="1500" dirty="0"/>
          </a:p>
        </p:txBody>
      </p:sp>
      <p:sp>
        <p:nvSpPr>
          <p:cNvPr id="19" name="Shape 14"/>
          <p:cNvSpPr/>
          <p:nvPr/>
        </p:nvSpPr>
        <p:spPr>
          <a:xfrm>
            <a:off x="667345" y="4698683"/>
            <a:ext cx="6552486" cy="2166580"/>
          </a:xfrm>
          <a:prstGeom prst="roundRect">
            <a:avLst>
              <a:gd name="adj" fmla="val 7922"/>
            </a:avLst>
          </a:prstGeom>
          <a:solidFill>
            <a:srgbClr val="E8F3E8"/>
          </a:solidFill>
          <a:ln/>
        </p:spPr>
        <p:txBody>
          <a:bodyPr/>
          <a:lstStyle/>
          <a:p>
            <a:endParaRPr lang="en-US"/>
          </a:p>
        </p:txBody>
      </p:sp>
      <p:sp>
        <p:nvSpPr>
          <p:cNvPr id="20" name="Shape 15"/>
          <p:cNvSpPr/>
          <p:nvPr/>
        </p:nvSpPr>
        <p:spPr>
          <a:xfrm>
            <a:off x="857964" y="4889302"/>
            <a:ext cx="572095" cy="572095"/>
          </a:xfrm>
          <a:prstGeom prst="roundRect">
            <a:avLst>
              <a:gd name="adj" fmla="val 15981761"/>
            </a:avLst>
          </a:prstGeom>
          <a:solidFill>
            <a:srgbClr val="438951"/>
          </a:solidFill>
          <a:ln/>
        </p:spPr>
        <p:txBody>
          <a:bodyPr/>
          <a:lstStyle/>
          <a:p>
            <a:endParaRPr lang="en-US"/>
          </a:p>
        </p:txBody>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15246" y="5046583"/>
            <a:ext cx="257413" cy="257413"/>
          </a:xfrm>
          <a:prstGeom prst="rect">
            <a:avLst/>
          </a:prstGeom>
        </p:spPr>
      </p:pic>
      <p:sp>
        <p:nvSpPr>
          <p:cNvPr id="22" name="Text 16"/>
          <p:cNvSpPr/>
          <p:nvPr/>
        </p:nvSpPr>
        <p:spPr>
          <a:xfrm>
            <a:off x="857964" y="5652016"/>
            <a:ext cx="2795945" cy="297894"/>
          </a:xfrm>
          <a:prstGeom prst="rect">
            <a:avLst/>
          </a:prstGeom>
          <a:noFill/>
          <a:ln/>
        </p:spPr>
        <p:txBody>
          <a:bodyPr wrap="none" lIns="0" tIns="0" rIns="0" bIns="0" rtlCol="0" anchor="t"/>
          <a:lstStyle/>
          <a:p>
            <a:pPr marL="0" indent="0" algn="l">
              <a:lnSpc>
                <a:spcPts val="2300"/>
              </a:lnSpc>
              <a:buNone/>
            </a:pPr>
            <a:r>
              <a:rPr lang="en-US" sz="1850" b="1" dirty="0">
                <a:solidFill>
                  <a:srgbClr val="405449"/>
                </a:solidFill>
                <a:latin typeface="Fraunces Extra Bold" pitchFamily="34" charset="0"/>
                <a:ea typeface="Fraunces Extra Bold" pitchFamily="34" charset="-122"/>
                <a:cs typeface="Fraunces Extra Bold" pitchFamily="34" charset="-120"/>
              </a:rPr>
              <a:t>Deceased Patient Ratio</a:t>
            </a:r>
            <a:endParaRPr lang="en-US" sz="1850" dirty="0"/>
          </a:p>
        </p:txBody>
      </p:sp>
      <p:sp>
        <p:nvSpPr>
          <p:cNvPr id="23" name="Text 17"/>
          <p:cNvSpPr/>
          <p:nvPr/>
        </p:nvSpPr>
        <p:spPr>
          <a:xfrm>
            <a:off x="857964" y="6064329"/>
            <a:ext cx="6171248" cy="305157"/>
          </a:xfrm>
          <a:prstGeom prst="rect">
            <a:avLst/>
          </a:prstGeom>
          <a:noFill/>
          <a:ln/>
        </p:spPr>
        <p:txBody>
          <a:bodyPr wrap="none" lIns="0" tIns="0" rIns="0" bIns="0" rtlCol="0" anchor="t"/>
          <a:lstStyle/>
          <a:p>
            <a:pPr marL="0" indent="0" algn="l">
              <a:lnSpc>
                <a:spcPts val="2400"/>
              </a:lnSpc>
              <a:buNone/>
            </a:pPr>
            <a:r>
              <a:rPr lang="en-US" sz="1500" dirty="0">
                <a:solidFill>
                  <a:srgbClr val="405449"/>
                </a:solidFill>
                <a:latin typeface="Nobile" pitchFamily="34" charset="0"/>
                <a:ea typeface="Nobile" pitchFamily="34" charset="-122"/>
                <a:cs typeface="Nobile" pitchFamily="34" charset="-120"/>
              </a:rPr>
              <a:t>Proportion of claims linked to patients identified as deceased.</a:t>
            </a:r>
            <a:endParaRPr lang="en-US" sz="1500" dirty="0"/>
          </a:p>
        </p:txBody>
      </p:sp>
      <p:sp>
        <p:nvSpPr>
          <p:cNvPr id="24" name="Shape 18"/>
          <p:cNvSpPr/>
          <p:nvPr/>
        </p:nvSpPr>
        <p:spPr>
          <a:xfrm>
            <a:off x="7410450" y="4698683"/>
            <a:ext cx="6552605" cy="2166580"/>
          </a:xfrm>
          <a:prstGeom prst="roundRect">
            <a:avLst>
              <a:gd name="adj" fmla="val 7922"/>
            </a:avLst>
          </a:prstGeom>
          <a:solidFill>
            <a:srgbClr val="E8F3E8"/>
          </a:solidFill>
          <a:ln/>
        </p:spPr>
        <p:txBody>
          <a:bodyPr/>
          <a:lstStyle/>
          <a:p>
            <a:endParaRPr lang="en-US"/>
          </a:p>
        </p:txBody>
      </p:sp>
      <p:sp>
        <p:nvSpPr>
          <p:cNvPr id="25" name="Shape 19"/>
          <p:cNvSpPr/>
          <p:nvPr/>
        </p:nvSpPr>
        <p:spPr>
          <a:xfrm>
            <a:off x="7601069" y="4889302"/>
            <a:ext cx="572095" cy="572095"/>
          </a:xfrm>
          <a:prstGeom prst="roundRect">
            <a:avLst>
              <a:gd name="adj" fmla="val 15981761"/>
            </a:avLst>
          </a:prstGeom>
          <a:solidFill>
            <a:srgbClr val="438951"/>
          </a:solidFill>
          <a:ln/>
        </p:spPr>
        <p:txBody>
          <a:bodyPr/>
          <a:lstStyle/>
          <a:p>
            <a:endParaRPr lang="en-US"/>
          </a:p>
        </p:txBody>
      </p:sp>
      <p:pic>
        <p:nvPicPr>
          <p:cNvPr id="2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58351" y="5046583"/>
            <a:ext cx="257413" cy="257413"/>
          </a:xfrm>
          <a:prstGeom prst="rect">
            <a:avLst/>
          </a:prstGeom>
        </p:spPr>
      </p:pic>
      <p:sp>
        <p:nvSpPr>
          <p:cNvPr id="27" name="Text 20"/>
          <p:cNvSpPr/>
          <p:nvPr/>
        </p:nvSpPr>
        <p:spPr>
          <a:xfrm>
            <a:off x="7601069" y="5652016"/>
            <a:ext cx="2383750" cy="297894"/>
          </a:xfrm>
          <a:prstGeom prst="rect">
            <a:avLst/>
          </a:prstGeom>
          <a:noFill/>
          <a:ln/>
        </p:spPr>
        <p:txBody>
          <a:bodyPr wrap="none" lIns="0" tIns="0" rIns="0" bIns="0" rtlCol="0" anchor="t"/>
          <a:lstStyle/>
          <a:p>
            <a:pPr marL="0" indent="0" algn="l">
              <a:lnSpc>
                <a:spcPts val="2300"/>
              </a:lnSpc>
              <a:buNone/>
            </a:pPr>
            <a:r>
              <a:rPr lang="en-US" sz="1850" b="1" dirty="0">
                <a:solidFill>
                  <a:srgbClr val="405449"/>
                </a:solidFill>
                <a:latin typeface="Fraunces Extra Bold" pitchFamily="34" charset="0"/>
                <a:ea typeface="Fraunces Extra Bold" pitchFamily="34" charset="-122"/>
                <a:cs typeface="Fraunces Extra Bold" pitchFamily="34" charset="-120"/>
              </a:rPr>
              <a:t>Revenue Mix</a:t>
            </a:r>
            <a:endParaRPr lang="en-US" sz="1850" dirty="0"/>
          </a:p>
        </p:txBody>
      </p:sp>
      <p:sp>
        <p:nvSpPr>
          <p:cNvPr id="28" name="Text 21"/>
          <p:cNvSpPr/>
          <p:nvPr/>
        </p:nvSpPr>
        <p:spPr>
          <a:xfrm>
            <a:off x="7601069" y="6064329"/>
            <a:ext cx="6171367" cy="610314"/>
          </a:xfrm>
          <a:prstGeom prst="rect">
            <a:avLst/>
          </a:prstGeom>
          <a:noFill/>
          <a:ln/>
        </p:spPr>
        <p:txBody>
          <a:bodyPr wrap="square" lIns="0" tIns="0" rIns="0" bIns="0" rtlCol="0" anchor="t"/>
          <a:lstStyle/>
          <a:p>
            <a:pPr marL="0" indent="0" algn="l">
              <a:lnSpc>
                <a:spcPts val="2400"/>
              </a:lnSpc>
              <a:buNone/>
            </a:pPr>
            <a:r>
              <a:rPr lang="en-US" sz="1500" dirty="0">
                <a:solidFill>
                  <a:srgbClr val="405449"/>
                </a:solidFill>
                <a:latin typeface="Nobile" pitchFamily="34" charset="0"/>
                <a:ea typeface="Nobile" pitchFamily="34" charset="-122"/>
                <a:cs typeface="Nobile" pitchFamily="34" charset="-120"/>
              </a:rPr>
              <a:t>The distribution of revenue originating from inpatient vs. outpatient services.</a:t>
            </a:r>
            <a:endParaRPr lang="en-US" sz="1500" dirty="0"/>
          </a:p>
        </p:txBody>
      </p:sp>
      <p:sp>
        <p:nvSpPr>
          <p:cNvPr id="29" name="Text 22"/>
          <p:cNvSpPr/>
          <p:nvPr/>
        </p:nvSpPr>
        <p:spPr>
          <a:xfrm>
            <a:off x="667345" y="7079694"/>
            <a:ext cx="13295709" cy="305157"/>
          </a:xfrm>
          <a:prstGeom prst="rect">
            <a:avLst/>
          </a:prstGeom>
          <a:noFill/>
          <a:ln/>
        </p:spPr>
        <p:txBody>
          <a:bodyPr wrap="none" lIns="0" tIns="0" rIns="0" bIns="0" rtlCol="0" anchor="t"/>
          <a:lstStyle/>
          <a:p>
            <a:pPr marL="0" indent="0" algn="l">
              <a:lnSpc>
                <a:spcPts val="2400"/>
              </a:lnSpc>
              <a:buNone/>
            </a:pPr>
            <a:r>
              <a:rPr lang="en-US" sz="1500" dirty="0">
                <a:solidFill>
                  <a:srgbClr val="405449"/>
                </a:solidFill>
                <a:latin typeface="Nobile" pitchFamily="34" charset="0"/>
                <a:ea typeface="Nobile" pitchFamily="34" charset="-122"/>
                <a:cs typeface="Nobile" pitchFamily="34" charset="-120"/>
              </a:rPr>
              <a:t>These features served as critical input for our predictive models, allowing us to differentiate between legitimate and fraudulent billing practices.</a:t>
            </a:r>
            <a:endParaRPr lang="en-US" sz="1500" dirty="0"/>
          </a:p>
        </p:txBody>
      </p:sp>
      <p:sp>
        <p:nvSpPr>
          <p:cNvPr id="30" name="Rectangle 29">
            <a:extLst>
              <a:ext uri="{FF2B5EF4-FFF2-40B4-BE49-F238E27FC236}">
                <a16:creationId xmlns:a16="http://schemas.microsoft.com/office/drawing/2014/main" id="{9522CDA8-990E-B8C5-26A9-F7E73FD7A7E0}"/>
              </a:ext>
            </a:extLst>
          </p:cNvPr>
          <p:cNvSpPr/>
          <p:nvPr/>
        </p:nvSpPr>
        <p:spPr>
          <a:xfrm>
            <a:off x="12660284" y="7672150"/>
            <a:ext cx="1895301" cy="47432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9608" y="526137"/>
            <a:ext cx="4783217" cy="597813"/>
          </a:xfrm>
          <a:prstGeom prst="rect">
            <a:avLst/>
          </a:prstGeom>
          <a:noFill/>
          <a:ln/>
        </p:spPr>
        <p:txBody>
          <a:bodyPr wrap="none" lIns="0" tIns="0" rIns="0" bIns="0" rtlCol="0" anchor="t"/>
          <a:lstStyle/>
          <a:p>
            <a:pPr marL="0" indent="0" algn="l">
              <a:lnSpc>
                <a:spcPts val="4700"/>
              </a:lnSpc>
              <a:buNone/>
            </a:pPr>
            <a:endParaRPr lang="en-US" sz="3750" dirty="0"/>
          </a:p>
        </p:txBody>
      </p:sp>
      <p:pic>
        <p:nvPicPr>
          <p:cNvPr id="3" name="Image 0" descr="preencoded.png"/>
          <p:cNvPicPr>
            <a:picLocks noChangeAspect="1"/>
          </p:cNvPicPr>
          <p:nvPr/>
        </p:nvPicPr>
        <p:blipFill>
          <a:blip r:embed="rId3"/>
          <a:stretch>
            <a:fillRect/>
          </a:stretch>
        </p:blipFill>
        <p:spPr>
          <a:xfrm>
            <a:off x="677228" y="1630799"/>
            <a:ext cx="6608207" cy="2869882"/>
          </a:xfrm>
          <a:prstGeom prst="rect">
            <a:avLst/>
          </a:prstGeom>
        </p:spPr>
      </p:pic>
      <p:pic>
        <p:nvPicPr>
          <p:cNvPr id="4" name="Image 1" descr="preencoded.png"/>
          <p:cNvPicPr>
            <a:picLocks noChangeAspect="1"/>
          </p:cNvPicPr>
          <p:nvPr/>
        </p:nvPicPr>
        <p:blipFill>
          <a:blip r:embed="rId4"/>
          <a:stretch>
            <a:fillRect/>
          </a:stretch>
        </p:blipFill>
        <p:spPr>
          <a:xfrm>
            <a:off x="7438430" y="1630799"/>
            <a:ext cx="6514862" cy="2869882"/>
          </a:xfrm>
          <a:prstGeom prst="rect">
            <a:avLst/>
          </a:prstGeom>
        </p:spPr>
      </p:pic>
      <p:pic>
        <p:nvPicPr>
          <p:cNvPr id="5" name="Image 2" descr="preencoded.png"/>
          <p:cNvPicPr>
            <a:picLocks noChangeAspect="1"/>
          </p:cNvPicPr>
          <p:nvPr/>
        </p:nvPicPr>
        <p:blipFill>
          <a:blip r:embed="rId5"/>
          <a:stretch>
            <a:fillRect/>
          </a:stretch>
        </p:blipFill>
        <p:spPr>
          <a:xfrm>
            <a:off x="677228" y="4653677"/>
            <a:ext cx="6425208" cy="2869882"/>
          </a:xfrm>
          <a:prstGeom prst="rect">
            <a:avLst/>
          </a:prstGeom>
        </p:spPr>
      </p:pic>
      <p:pic>
        <p:nvPicPr>
          <p:cNvPr id="6" name="Image 3" descr="preencoded.png"/>
          <p:cNvPicPr>
            <a:picLocks noChangeAspect="1"/>
          </p:cNvPicPr>
          <p:nvPr/>
        </p:nvPicPr>
        <p:blipFill>
          <a:blip r:embed="rId6"/>
          <a:stretch>
            <a:fillRect/>
          </a:stretch>
        </p:blipFill>
        <p:spPr>
          <a:xfrm>
            <a:off x="7255431" y="4653677"/>
            <a:ext cx="6697861" cy="2869882"/>
          </a:xfrm>
          <a:prstGeom prst="rect">
            <a:avLst/>
          </a:prstGeom>
        </p:spPr>
      </p:pic>
      <p:sp>
        <p:nvSpPr>
          <p:cNvPr id="7" name="Rectangle 6">
            <a:extLst>
              <a:ext uri="{FF2B5EF4-FFF2-40B4-BE49-F238E27FC236}">
                <a16:creationId xmlns:a16="http://schemas.microsoft.com/office/drawing/2014/main" id="{E74C8DA2-6DA7-99F0-2301-97F3C2882849}"/>
              </a:ext>
            </a:extLst>
          </p:cNvPr>
          <p:cNvSpPr/>
          <p:nvPr/>
        </p:nvSpPr>
        <p:spPr>
          <a:xfrm>
            <a:off x="12660284" y="7672150"/>
            <a:ext cx="1895301" cy="47432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6509" y="509468"/>
            <a:ext cx="13337381" cy="1154430"/>
          </a:xfrm>
          <a:prstGeom prst="rect">
            <a:avLst/>
          </a:prstGeom>
          <a:noFill/>
          <a:ln/>
        </p:spPr>
        <p:txBody>
          <a:bodyPr wrap="square" lIns="0" tIns="0" rIns="0" bIns="0" rtlCol="0" anchor="t"/>
          <a:lstStyle/>
          <a:p>
            <a:pPr marL="0" indent="0" algn="l">
              <a:lnSpc>
                <a:spcPts val="4500"/>
              </a:lnSpc>
              <a:buNone/>
            </a:pPr>
            <a:r>
              <a:rPr lang="en-US" sz="3600" b="1" dirty="0">
                <a:solidFill>
                  <a:srgbClr val="3B4540"/>
                </a:solidFill>
                <a:latin typeface="Fraunces Extra Bold" pitchFamily="34" charset="0"/>
                <a:ea typeface="Fraunces Extra Bold" pitchFamily="34" charset="-122"/>
                <a:cs typeface="Fraunces Extra Bold" pitchFamily="34" charset="-120"/>
              </a:rPr>
              <a:t>Modeling Strategy: Addressing Complexity and Imbalance</a:t>
            </a:r>
            <a:endParaRPr lang="en-US" sz="3600" dirty="0"/>
          </a:p>
        </p:txBody>
      </p:sp>
      <p:sp>
        <p:nvSpPr>
          <p:cNvPr id="3" name="Text 1"/>
          <p:cNvSpPr/>
          <p:nvPr/>
        </p:nvSpPr>
        <p:spPr>
          <a:xfrm>
            <a:off x="646509" y="2033230"/>
            <a:ext cx="13337381" cy="590788"/>
          </a:xfrm>
          <a:prstGeom prst="rect">
            <a:avLst/>
          </a:prstGeom>
          <a:noFill/>
          <a:ln/>
        </p:spPr>
        <p:txBody>
          <a:bodyPr wrap="square" lIns="0" tIns="0" rIns="0" bIns="0" rtlCol="0" anchor="t"/>
          <a:lstStyle/>
          <a:p>
            <a:pPr marL="0" indent="0" algn="l">
              <a:lnSpc>
                <a:spcPts val="2300"/>
              </a:lnSpc>
              <a:buNone/>
            </a:pPr>
            <a:r>
              <a:rPr lang="en-US" sz="1450" dirty="0">
                <a:solidFill>
                  <a:srgbClr val="405449"/>
                </a:solidFill>
                <a:latin typeface="Nobile" pitchFamily="34" charset="0"/>
                <a:ea typeface="Nobile" pitchFamily="34" charset="-122"/>
                <a:cs typeface="Nobile" pitchFamily="34" charset="-120"/>
              </a:rPr>
              <a:t>To tackle the inherent challenges of fraud detection, particularly class imbalance, we evaluated a range of robust machine learning models and techniques.</a:t>
            </a:r>
            <a:endParaRPr lang="en-US" sz="1450" dirty="0"/>
          </a:p>
        </p:txBody>
      </p:sp>
      <p:sp>
        <p:nvSpPr>
          <p:cNvPr id="4" name="Text 2"/>
          <p:cNvSpPr/>
          <p:nvPr/>
        </p:nvSpPr>
        <p:spPr>
          <a:xfrm>
            <a:off x="646509" y="3016448"/>
            <a:ext cx="2308979" cy="288488"/>
          </a:xfrm>
          <a:prstGeom prst="rect">
            <a:avLst/>
          </a:prstGeom>
          <a:noFill/>
          <a:ln/>
        </p:spPr>
        <p:txBody>
          <a:bodyPr wrap="none" lIns="0" tIns="0" rIns="0" bIns="0" rtlCol="0" anchor="t"/>
          <a:lstStyle/>
          <a:p>
            <a:pPr marL="0" indent="0" algn="l">
              <a:lnSpc>
                <a:spcPts val="2250"/>
              </a:lnSpc>
              <a:buNone/>
            </a:pPr>
            <a:r>
              <a:rPr lang="en-US" sz="1800" b="1" dirty="0">
                <a:solidFill>
                  <a:srgbClr val="3B4540"/>
                </a:solidFill>
                <a:latin typeface="Fraunces Extra Bold" pitchFamily="34" charset="0"/>
                <a:ea typeface="Fraunces Extra Bold" pitchFamily="34" charset="-122"/>
                <a:cs typeface="Fraunces Extra Bold" pitchFamily="34" charset="-120"/>
              </a:rPr>
              <a:t>Models Explored:</a:t>
            </a:r>
            <a:endParaRPr lang="en-US" sz="1800" dirty="0"/>
          </a:p>
        </p:txBody>
      </p:sp>
      <p:sp>
        <p:nvSpPr>
          <p:cNvPr id="5" name="Text 3"/>
          <p:cNvSpPr/>
          <p:nvPr/>
        </p:nvSpPr>
        <p:spPr>
          <a:xfrm>
            <a:off x="646509" y="3489603"/>
            <a:ext cx="6443424" cy="295394"/>
          </a:xfrm>
          <a:prstGeom prst="rect">
            <a:avLst/>
          </a:prstGeom>
          <a:noFill/>
          <a:ln/>
        </p:spPr>
        <p:txBody>
          <a:bodyPr wrap="none" lIns="0" tIns="0" rIns="0" bIns="0" rtlCol="0" anchor="t"/>
          <a:lstStyle/>
          <a:p>
            <a:pPr marL="342900" indent="-342900" algn="l">
              <a:lnSpc>
                <a:spcPts val="2300"/>
              </a:lnSpc>
              <a:buSzPct val="100000"/>
              <a:buChar char="•"/>
            </a:pPr>
            <a:r>
              <a:rPr lang="en-US" sz="1450" b="1" dirty="0">
                <a:solidFill>
                  <a:srgbClr val="405449"/>
                </a:solidFill>
                <a:latin typeface="Nobile" pitchFamily="34" charset="0"/>
                <a:ea typeface="Nobile" pitchFamily="34" charset="-122"/>
                <a:cs typeface="Nobile" pitchFamily="34" charset="-120"/>
              </a:rPr>
              <a:t>Logistic Regression:</a:t>
            </a:r>
            <a:r>
              <a:rPr lang="en-US" sz="1450" dirty="0">
                <a:solidFill>
                  <a:srgbClr val="405449"/>
                </a:solidFill>
                <a:latin typeface="Nobile" pitchFamily="34" charset="0"/>
                <a:ea typeface="Nobile" pitchFamily="34" charset="-122"/>
                <a:cs typeface="Nobile" pitchFamily="34" charset="-120"/>
              </a:rPr>
              <a:t> A baseline for binary classification.</a:t>
            </a:r>
            <a:endParaRPr lang="en-US" sz="1450" dirty="0"/>
          </a:p>
        </p:txBody>
      </p:sp>
      <p:sp>
        <p:nvSpPr>
          <p:cNvPr id="6" name="Text 4"/>
          <p:cNvSpPr/>
          <p:nvPr/>
        </p:nvSpPr>
        <p:spPr>
          <a:xfrm>
            <a:off x="646509" y="3849648"/>
            <a:ext cx="6443424" cy="295394"/>
          </a:xfrm>
          <a:prstGeom prst="rect">
            <a:avLst/>
          </a:prstGeom>
          <a:noFill/>
          <a:ln/>
        </p:spPr>
        <p:txBody>
          <a:bodyPr wrap="none" lIns="0" tIns="0" rIns="0" bIns="0" rtlCol="0" anchor="t"/>
          <a:lstStyle/>
          <a:p>
            <a:pPr marL="342900" indent="-342900" algn="l">
              <a:lnSpc>
                <a:spcPts val="2300"/>
              </a:lnSpc>
              <a:buSzPct val="100000"/>
              <a:buChar char="•"/>
            </a:pPr>
            <a:r>
              <a:rPr lang="en-US" sz="1450" b="1" dirty="0">
                <a:solidFill>
                  <a:srgbClr val="405449"/>
                </a:solidFill>
                <a:latin typeface="Nobile" pitchFamily="34" charset="0"/>
                <a:ea typeface="Nobile" pitchFamily="34" charset="-122"/>
                <a:cs typeface="Nobile" pitchFamily="34" charset="-120"/>
              </a:rPr>
              <a:t>Decision Tree:</a:t>
            </a:r>
            <a:r>
              <a:rPr lang="en-US" sz="1450" dirty="0">
                <a:solidFill>
                  <a:srgbClr val="405449"/>
                </a:solidFill>
                <a:latin typeface="Nobile" pitchFamily="34" charset="0"/>
                <a:ea typeface="Nobile" pitchFamily="34" charset="-122"/>
                <a:cs typeface="Nobile" pitchFamily="34" charset="-120"/>
              </a:rPr>
              <a:t> Provides interpretability for rule-based insights.</a:t>
            </a:r>
            <a:endParaRPr lang="en-US" sz="1450" dirty="0"/>
          </a:p>
        </p:txBody>
      </p:sp>
      <p:sp>
        <p:nvSpPr>
          <p:cNvPr id="7" name="Text 5"/>
          <p:cNvSpPr/>
          <p:nvPr/>
        </p:nvSpPr>
        <p:spPr>
          <a:xfrm>
            <a:off x="646509" y="4209693"/>
            <a:ext cx="6443424" cy="590788"/>
          </a:xfrm>
          <a:prstGeom prst="rect">
            <a:avLst/>
          </a:prstGeom>
          <a:noFill/>
          <a:ln/>
        </p:spPr>
        <p:txBody>
          <a:bodyPr wrap="square" lIns="0" tIns="0" rIns="0" bIns="0" rtlCol="0" anchor="t"/>
          <a:lstStyle/>
          <a:p>
            <a:pPr marL="342900" indent="-342900" algn="l">
              <a:lnSpc>
                <a:spcPts val="2300"/>
              </a:lnSpc>
              <a:buSzPct val="100000"/>
              <a:buChar char="•"/>
            </a:pPr>
            <a:r>
              <a:rPr lang="en-US" sz="1450" b="1" dirty="0">
                <a:solidFill>
                  <a:srgbClr val="405449"/>
                </a:solidFill>
                <a:latin typeface="Nobile" pitchFamily="34" charset="0"/>
                <a:ea typeface="Nobile" pitchFamily="34" charset="-122"/>
                <a:cs typeface="Nobile" pitchFamily="34" charset="-120"/>
              </a:rPr>
              <a:t>Random Forest:</a:t>
            </a:r>
            <a:r>
              <a:rPr lang="en-US" sz="1450" dirty="0">
                <a:solidFill>
                  <a:srgbClr val="405449"/>
                </a:solidFill>
                <a:latin typeface="Nobile" pitchFamily="34" charset="0"/>
                <a:ea typeface="Nobile" pitchFamily="34" charset="-122"/>
                <a:cs typeface="Nobile" pitchFamily="34" charset="-120"/>
              </a:rPr>
              <a:t> An ensemble method known for high accuracy and robustness.</a:t>
            </a:r>
            <a:endParaRPr lang="en-US" sz="1450" dirty="0"/>
          </a:p>
        </p:txBody>
      </p:sp>
      <p:sp>
        <p:nvSpPr>
          <p:cNvPr id="8" name="Text 6"/>
          <p:cNvSpPr/>
          <p:nvPr/>
        </p:nvSpPr>
        <p:spPr>
          <a:xfrm>
            <a:off x="646509" y="4865132"/>
            <a:ext cx="6443424" cy="590788"/>
          </a:xfrm>
          <a:prstGeom prst="rect">
            <a:avLst/>
          </a:prstGeom>
          <a:noFill/>
          <a:ln/>
        </p:spPr>
        <p:txBody>
          <a:bodyPr wrap="square" lIns="0" tIns="0" rIns="0" bIns="0" rtlCol="0" anchor="t"/>
          <a:lstStyle/>
          <a:p>
            <a:pPr marL="342900" indent="-342900" algn="l">
              <a:lnSpc>
                <a:spcPts val="2300"/>
              </a:lnSpc>
              <a:buSzPct val="100000"/>
              <a:buChar char="•"/>
            </a:pPr>
            <a:r>
              <a:rPr lang="en-US" sz="1450" b="1" dirty="0">
                <a:solidFill>
                  <a:srgbClr val="405449"/>
                </a:solidFill>
                <a:latin typeface="Nobile" pitchFamily="34" charset="0"/>
                <a:ea typeface="Nobile" pitchFamily="34" charset="-122"/>
                <a:cs typeface="Nobile" pitchFamily="34" charset="-120"/>
              </a:rPr>
              <a:t>XGBoost:</a:t>
            </a:r>
            <a:r>
              <a:rPr lang="en-US" sz="1450" dirty="0">
                <a:solidFill>
                  <a:srgbClr val="405449"/>
                </a:solidFill>
                <a:latin typeface="Nobile" pitchFamily="34" charset="0"/>
                <a:ea typeface="Nobile" pitchFamily="34" charset="-122"/>
                <a:cs typeface="Nobile" pitchFamily="34" charset="-120"/>
              </a:rPr>
              <a:t> A powerful gradient boosting framework, optimized with class weighting and SMOTE.</a:t>
            </a:r>
            <a:endParaRPr lang="en-US" sz="1450" dirty="0"/>
          </a:p>
        </p:txBody>
      </p:sp>
      <p:sp>
        <p:nvSpPr>
          <p:cNvPr id="9" name="Text 7"/>
          <p:cNvSpPr/>
          <p:nvPr/>
        </p:nvSpPr>
        <p:spPr>
          <a:xfrm>
            <a:off x="646509" y="5640586"/>
            <a:ext cx="2459474" cy="288488"/>
          </a:xfrm>
          <a:prstGeom prst="rect">
            <a:avLst/>
          </a:prstGeom>
          <a:noFill/>
          <a:ln/>
        </p:spPr>
        <p:txBody>
          <a:bodyPr wrap="none" lIns="0" tIns="0" rIns="0" bIns="0" rtlCol="0" anchor="t"/>
          <a:lstStyle/>
          <a:p>
            <a:pPr marL="0" indent="0" algn="l">
              <a:lnSpc>
                <a:spcPts val="2250"/>
              </a:lnSpc>
              <a:buNone/>
            </a:pPr>
            <a:r>
              <a:rPr lang="en-US" sz="1800" b="1" dirty="0">
                <a:solidFill>
                  <a:srgbClr val="3B4540"/>
                </a:solidFill>
                <a:latin typeface="Fraunces Extra Bold" pitchFamily="34" charset="0"/>
                <a:ea typeface="Fraunces Extra Bold" pitchFamily="34" charset="-122"/>
                <a:cs typeface="Fraunces Extra Bold" pitchFamily="34" charset="-120"/>
              </a:rPr>
              <a:t>Imbalance Handling:</a:t>
            </a:r>
            <a:endParaRPr lang="en-US" sz="1800" dirty="0"/>
          </a:p>
        </p:txBody>
      </p:sp>
      <p:sp>
        <p:nvSpPr>
          <p:cNvPr id="10" name="Text 8"/>
          <p:cNvSpPr/>
          <p:nvPr/>
        </p:nvSpPr>
        <p:spPr>
          <a:xfrm>
            <a:off x="646509" y="6113740"/>
            <a:ext cx="6443424" cy="590788"/>
          </a:xfrm>
          <a:prstGeom prst="rect">
            <a:avLst/>
          </a:prstGeom>
          <a:noFill/>
          <a:ln/>
        </p:spPr>
        <p:txBody>
          <a:bodyPr wrap="square" lIns="0" tIns="0" rIns="0" bIns="0" rtlCol="0" anchor="t"/>
          <a:lstStyle/>
          <a:p>
            <a:pPr marL="342900" indent="-342900" algn="l">
              <a:lnSpc>
                <a:spcPts val="2300"/>
              </a:lnSpc>
              <a:buSzPct val="100000"/>
              <a:buChar char="•"/>
            </a:pPr>
            <a:r>
              <a:rPr lang="en-US" sz="1450" b="1" dirty="0">
                <a:solidFill>
                  <a:srgbClr val="405449"/>
                </a:solidFill>
                <a:latin typeface="Nobile" pitchFamily="34" charset="0"/>
                <a:ea typeface="Nobile" pitchFamily="34" charset="-122"/>
                <a:cs typeface="Nobile" pitchFamily="34" charset="-120"/>
              </a:rPr>
              <a:t>Class Weighting:</a:t>
            </a:r>
            <a:r>
              <a:rPr lang="en-US" sz="1450" dirty="0">
                <a:solidFill>
                  <a:srgbClr val="405449"/>
                </a:solidFill>
                <a:latin typeface="Nobile" pitchFamily="34" charset="0"/>
                <a:ea typeface="Nobile" pitchFamily="34" charset="-122"/>
                <a:cs typeface="Nobile" pitchFamily="34" charset="-120"/>
              </a:rPr>
              <a:t> Assigning higher penalties to misclassified minority class samples.</a:t>
            </a:r>
            <a:endParaRPr lang="en-US" sz="1450" dirty="0"/>
          </a:p>
        </p:txBody>
      </p:sp>
      <p:sp>
        <p:nvSpPr>
          <p:cNvPr id="11" name="Text 9"/>
          <p:cNvSpPr/>
          <p:nvPr/>
        </p:nvSpPr>
        <p:spPr>
          <a:xfrm>
            <a:off x="646509" y="6769179"/>
            <a:ext cx="6443424" cy="886182"/>
          </a:xfrm>
          <a:prstGeom prst="rect">
            <a:avLst/>
          </a:prstGeom>
          <a:noFill/>
          <a:ln/>
        </p:spPr>
        <p:txBody>
          <a:bodyPr wrap="square" lIns="0" tIns="0" rIns="0" bIns="0" rtlCol="0" anchor="t"/>
          <a:lstStyle/>
          <a:p>
            <a:pPr marL="342900" indent="-342900" algn="l">
              <a:lnSpc>
                <a:spcPts val="2300"/>
              </a:lnSpc>
              <a:buSzPct val="100000"/>
              <a:buChar char="•"/>
            </a:pPr>
            <a:r>
              <a:rPr lang="en-US" sz="1450" b="1" dirty="0">
                <a:solidFill>
                  <a:srgbClr val="405449"/>
                </a:solidFill>
                <a:latin typeface="Nobile" pitchFamily="34" charset="0"/>
                <a:ea typeface="Nobile" pitchFamily="34" charset="-122"/>
                <a:cs typeface="Nobile" pitchFamily="34" charset="-120"/>
              </a:rPr>
              <a:t>SMOTE (Synthetic Minority Over-sampling Technique):</a:t>
            </a:r>
            <a:r>
              <a:rPr lang="en-US" sz="1450" dirty="0">
                <a:solidFill>
                  <a:srgbClr val="405449"/>
                </a:solidFill>
                <a:latin typeface="Nobile" pitchFamily="34" charset="0"/>
                <a:ea typeface="Nobile" pitchFamily="34" charset="-122"/>
                <a:cs typeface="Nobile" pitchFamily="34" charset="-120"/>
              </a:rPr>
              <a:t> Generating synthetic samples for the minority class to balance the dataset.</a:t>
            </a:r>
            <a:endParaRPr lang="en-US" sz="1450" dirty="0"/>
          </a:p>
        </p:txBody>
      </p:sp>
      <p:sp>
        <p:nvSpPr>
          <p:cNvPr id="12" name="Text 10"/>
          <p:cNvSpPr/>
          <p:nvPr/>
        </p:nvSpPr>
        <p:spPr>
          <a:xfrm>
            <a:off x="7548086" y="3016448"/>
            <a:ext cx="2308979" cy="288488"/>
          </a:xfrm>
          <a:prstGeom prst="rect">
            <a:avLst/>
          </a:prstGeom>
          <a:noFill/>
          <a:ln/>
        </p:spPr>
        <p:txBody>
          <a:bodyPr wrap="none" lIns="0" tIns="0" rIns="0" bIns="0" rtlCol="0" anchor="t"/>
          <a:lstStyle/>
          <a:p>
            <a:pPr marL="0" indent="0" algn="l">
              <a:lnSpc>
                <a:spcPts val="2250"/>
              </a:lnSpc>
              <a:buNone/>
            </a:pPr>
            <a:r>
              <a:rPr lang="en-US" sz="1800" b="1" dirty="0">
                <a:solidFill>
                  <a:srgbClr val="3B4540"/>
                </a:solidFill>
                <a:latin typeface="Fraunces Extra Bold" pitchFamily="34" charset="0"/>
                <a:ea typeface="Fraunces Extra Bold" pitchFamily="34" charset="-122"/>
                <a:cs typeface="Fraunces Extra Bold" pitchFamily="34" charset="-120"/>
              </a:rPr>
              <a:t>Validation Method:</a:t>
            </a:r>
            <a:endParaRPr lang="en-US" sz="1800" dirty="0"/>
          </a:p>
        </p:txBody>
      </p:sp>
      <p:sp>
        <p:nvSpPr>
          <p:cNvPr id="13" name="Text 11"/>
          <p:cNvSpPr/>
          <p:nvPr/>
        </p:nvSpPr>
        <p:spPr>
          <a:xfrm>
            <a:off x="7548086" y="3489603"/>
            <a:ext cx="6443424" cy="886182"/>
          </a:xfrm>
          <a:prstGeom prst="rect">
            <a:avLst/>
          </a:prstGeom>
          <a:noFill/>
          <a:ln/>
        </p:spPr>
        <p:txBody>
          <a:bodyPr wrap="square" lIns="0" tIns="0" rIns="0" bIns="0" rtlCol="0" anchor="t"/>
          <a:lstStyle/>
          <a:p>
            <a:pPr marL="342900" indent="-342900" algn="l">
              <a:lnSpc>
                <a:spcPts val="2300"/>
              </a:lnSpc>
              <a:buSzPct val="100000"/>
              <a:buChar char="•"/>
            </a:pPr>
            <a:r>
              <a:rPr lang="en-US" sz="1450" b="1" dirty="0">
                <a:solidFill>
                  <a:srgbClr val="405449"/>
                </a:solidFill>
                <a:latin typeface="Nobile" pitchFamily="34" charset="0"/>
                <a:ea typeface="Nobile" pitchFamily="34" charset="-122"/>
                <a:cs typeface="Nobile" pitchFamily="34" charset="-120"/>
              </a:rPr>
              <a:t>Stratified K-Fold Cross-Validation:</a:t>
            </a:r>
            <a:r>
              <a:rPr lang="en-US" sz="1450" dirty="0">
                <a:solidFill>
                  <a:srgbClr val="405449"/>
                </a:solidFill>
                <a:latin typeface="Nobile" pitchFamily="34" charset="0"/>
                <a:ea typeface="Nobile" pitchFamily="34" charset="-122"/>
                <a:cs typeface="Nobile" pitchFamily="34" charset="-120"/>
              </a:rPr>
              <a:t> Ensures that each fold maintains the same class distribution as the original dataset, providing reliable performance estimates.</a:t>
            </a:r>
            <a:endParaRPr lang="en-US" sz="1450" dirty="0"/>
          </a:p>
        </p:txBody>
      </p:sp>
      <p:sp>
        <p:nvSpPr>
          <p:cNvPr id="14" name="Rectangle 13">
            <a:extLst>
              <a:ext uri="{FF2B5EF4-FFF2-40B4-BE49-F238E27FC236}">
                <a16:creationId xmlns:a16="http://schemas.microsoft.com/office/drawing/2014/main" id="{15D61262-D34C-101B-1C34-88C0249227B3}"/>
              </a:ext>
            </a:extLst>
          </p:cNvPr>
          <p:cNvSpPr/>
          <p:nvPr/>
        </p:nvSpPr>
        <p:spPr>
          <a:xfrm>
            <a:off x="12660284" y="7672150"/>
            <a:ext cx="1895301" cy="47432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09493" y="557451"/>
            <a:ext cx="13211413" cy="1267063"/>
          </a:xfrm>
          <a:prstGeom prst="rect">
            <a:avLst/>
          </a:prstGeom>
          <a:noFill/>
          <a:ln/>
        </p:spPr>
        <p:txBody>
          <a:bodyPr wrap="square" lIns="0" tIns="0" rIns="0" bIns="0" rtlCol="0" anchor="t"/>
          <a:lstStyle/>
          <a:p>
            <a:pPr marL="0" indent="0" algn="l">
              <a:lnSpc>
                <a:spcPts val="4950"/>
              </a:lnSpc>
              <a:buNone/>
            </a:pPr>
            <a:r>
              <a:rPr lang="en-US" sz="3950" b="1" dirty="0">
                <a:solidFill>
                  <a:srgbClr val="3B4540"/>
                </a:solidFill>
                <a:latin typeface="Fraunces Extra Bold" pitchFamily="34" charset="0"/>
                <a:ea typeface="Fraunces Extra Bold" pitchFamily="34" charset="-122"/>
                <a:cs typeface="Fraunces Extra Bold" pitchFamily="34" charset="-120"/>
              </a:rPr>
              <a:t>Model Performance: Identifying the Optimal Solution</a:t>
            </a:r>
            <a:endParaRPr lang="en-US" sz="3950" dirty="0"/>
          </a:p>
        </p:txBody>
      </p:sp>
      <p:sp>
        <p:nvSpPr>
          <p:cNvPr id="3" name="Text 1"/>
          <p:cNvSpPr/>
          <p:nvPr/>
        </p:nvSpPr>
        <p:spPr>
          <a:xfrm>
            <a:off x="709493" y="2229922"/>
            <a:ext cx="13211413" cy="648653"/>
          </a:xfrm>
          <a:prstGeom prst="rect">
            <a:avLst/>
          </a:prstGeom>
          <a:noFill/>
          <a:ln/>
        </p:spPr>
        <p:txBody>
          <a:bodyPr wrap="square" lIns="0" tIns="0" rIns="0" bIns="0" rtlCol="0" anchor="t"/>
          <a:lstStyle/>
          <a:p>
            <a:pPr marL="0" indent="0" algn="l">
              <a:lnSpc>
                <a:spcPts val="2550"/>
              </a:lnSpc>
              <a:buNone/>
            </a:pPr>
            <a:r>
              <a:rPr lang="en-US" sz="1550" dirty="0">
                <a:solidFill>
                  <a:srgbClr val="405449"/>
                </a:solidFill>
                <a:latin typeface="Nobile" pitchFamily="34" charset="0"/>
                <a:ea typeface="Nobile" pitchFamily="34" charset="-122"/>
                <a:cs typeface="Nobile" pitchFamily="34" charset="-120"/>
              </a:rPr>
              <a:t>Evaluating models on precision, recall, F1-score, ROC-AUC, and PR-AUC, the Random Forest model emerged as the most balanced choice for our objectives.</a:t>
            </a:r>
            <a:endParaRPr lang="en-US" sz="1550" dirty="0"/>
          </a:p>
        </p:txBody>
      </p:sp>
      <p:sp>
        <p:nvSpPr>
          <p:cNvPr id="4" name="Shape 2"/>
          <p:cNvSpPr/>
          <p:nvPr/>
        </p:nvSpPr>
        <p:spPr>
          <a:xfrm>
            <a:off x="709493" y="3106579"/>
            <a:ext cx="13211413" cy="2928699"/>
          </a:xfrm>
          <a:prstGeom prst="roundRect">
            <a:avLst>
              <a:gd name="adj" fmla="val 6230"/>
            </a:avLst>
          </a:prstGeom>
          <a:noFill/>
          <a:ln w="7620">
            <a:solidFill>
              <a:srgbClr val="000000">
                <a:alpha val="8000"/>
              </a:srgbClr>
            </a:solidFill>
            <a:prstDash val="solid"/>
          </a:ln>
        </p:spPr>
        <p:txBody>
          <a:bodyPr/>
          <a:lstStyle/>
          <a:p>
            <a:endParaRPr lang="en-US"/>
          </a:p>
        </p:txBody>
      </p:sp>
      <p:sp>
        <p:nvSpPr>
          <p:cNvPr id="5" name="Shape 3"/>
          <p:cNvSpPr/>
          <p:nvPr/>
        </p:nvSpPr>
        <p:spPr>
          <a:xfrm>
            <a:off x="717113" y="3114199"/>
            <a:ext cx="13196173" cy="582692"/>
          </a:xfrm>
          <a:prstGeom prst="rect">
            <a:avLst/>
          </a:prstGeom>
          <a:solidFill>
            <a:srgbClr val="FFFFFF">
              <a:alpha val="4000"/>
            </a:srgbClr>
          </a:solidFill>
          <a:ln/>
        </p:spPr>
        <p:txBody>
          <a:bodyPr/>
          <a:lstStyle/>
          <a:p>
            <a:endParaRPr lang="en-US"/>
          </a:p>
        </p:txBody>
      </p:sp>
      <p:sp>
        <p:nvSpPr>
          <p:cNvPr id="6" name="Text 4"/>
          <p:cNvSpPr/>
          <p:nvPr/>
        </p:nvSpPr>
        <p:spPr>
          <a:xfrm>
            <a:off x="920115" y="3243382"/>
            <a:ext cx="2230041" cy="324326"/>
          </a:xfrm>
          <a:prstGeom prst="rect">
            <a:avLst/>
          </a:prstGeom>
          <a:noFill/>
          <a:ln/>
        </p:spPr>
        <p:txBody>
          <a:bodyPr wrap="none" lIns="0" tIns="0" rIns="0" bIns="0" rtlCol="0" anchor="t"/>
          <a:lstStyle/>
          <a:p>
            <a:pPr marL="0" indent="0" algn="l">
              <a:lnSpc>
                <a:spcPts val="2550"/>
              </a:lnSpc>
              <a:buNone/>
            </a:pPr>
            <a:r>
              <a:rPr lang="en-US" sz="1550" b="1" dirty="0">
                <a:solidFill>
                  <a:srgbClr val="405449"/>
                </a:solidFill>
                <a:latin typeface="Nobile" pitchFamily="34" charset="0"/>
                <a:ea typeface="Nobile" pitchFamily="34" charset="-122"/>
                <a:cs typeface="Nobile" pitchFamily="34" charset="-120"/>
              </a:rPr>
              <a:t>Model</a:t>
            </a:r>
            <a:endParaRPr lang="en-US" sz="1550" dirty="0"/>
          </a:p>
        </p:txBody>
      </p:sp>
      <p:sp>
        <p:nvSpPr>
          <p:cNvPr id="7" name="Text 5"/>
          <p:cNvSpPr/>
          <p:nvPr/>
        </p:nvSpPr>
        <p:spPr>
          <a:xfrm>
            <a:off x="3563064" y="3243382"/>
            <a:ext cx="1698427" cy="324326"/>
          </a:xfrm>
          <a:prstGeom prst="rect">
            <a:avLst/>
          </a:prstGeom>
          <a:noFill/>
          <a:ln/>
        </p:spPr>
        <p:txBody>
          <a:bodyPr wrap="none" lIns="0" tIns="0" rIns="0" bIns="0" rtlCol="0" anchor="t"/>
          <a:lstStyle/>
          <a:p>
            <a:pPr marL="0" indent="0" algn="l">
              <a:lnSpc>
                <a:spcPts val="2550"/>
              </a:lnSpc>
              <a:buNone/>
            </a:pPr>
            <a:r>
              <a:rPr lang="en-US" sz="1550" b="1" dirty="0">
                <a:solidFill>
                  <a:srgbClr val="405449"/>
                </a:solidFill>
                <a:latin typeface="Nobile" pitchFamily="34" charset="0"/>
                <a:ea typeface="Nobile" pitchFamily="34" charset="-122"/>
                <a:cs typeface="Nobile" pitchFamily="34" charset="-120"/>
              </a:rPr>
              <a:t>Precision</a:t>
            </a:r>
            <a:endParaRPr lang="en-US" sz="1550" dirty="0"/>
          </a:p>
        </p:txBody>
      </p:sp>
      <p:sp>
        <p:nvSpPr>
          <p:cNvPr id="8" name="Text 6"/>
          <p:cNvSpPr/>
          <p:nvPr/>
        </p:nvSpPr>
        <p:spPr>
          <a:xfrm>
            <a:off x="5674400" y="3243382"/>
            <a:ext cx="1698427" cy="324326"/>
          </a:xfrm>
          <a:prstGeom prst="rect">
            <a:avLst/>
          </a:prstGeom>
          <a:noFill/>
          <a:ln/>
        </p:spPr>
        <p:txBody>
          <a:bodyPr wrap="none" lIns="0" tIns="0" rIns="0" bIns="0" rtlCol="0" anchor="t"/>
          <a:lstStyle/>
          <a:p>
            <a:pPr marL="0" indent="0" algn="l">
              <a:lnSpc>
                <a:spcPts val="2550"/>
              </a:lnSpc>
              <a:buNone/>
            </a:pPr>
            <a:r>
              <a:rPr lang="en-US" sz="1550" b="1" dirty="0">
                <a:solidFill>
                  <a:srgbClr val="405449"/>
                </a:solidFill>
                <a:latin typeface="Nobile" pitchFamily="34" charset="0"/>
                <a:ea typeface="Nobile" pitchFamily="34" charset="-122"/>
                <a:cs typeface="Nobile" pitchFamily="34" charset="-120"/>
              </a:rPr>
              <a:t>Recall</a:t>
            </a:r>
            <a:endParaRPr lang="en-US" sz="1550" dirty="0"/>
          </a:p>
        </p:txBody>
      </p:sp>
      <p:sp>
        <p:nvSpPr>
          <p:cNvPr id="9" name="Text 7"/>
          <p:cNvSpPr/>
          <p:nvPr/>
        </p:nvSpPr>
        <p:spPr>
          <a:xfrm>
            <a:off x="7785735" y="3243382"/>
            <a:ext cx="1698427" cy="324326"/>
          </a:xfrm>
          <a:prstGeom prst="rect">
            <a:avLst/>
          </a:prstGeom>
          <a:noFill/>
          <a:ln/>
        </p:spPr>
        <p:txBody>
          <a:bodyPr wrap="none" lIns="0" tIns="0" rIns="0" bIns="0" rtlCol="0" anchor="t"/>
          <a:lstStyle/>
          <a:p>
            <a:pPr marL="0" indent="0" algn="l">
              <a:lnSpc>
                <a:spcPts val="2550"/>
              </a:lnSpc>
              <a:buNone/>
            </a:pPr>
            <a:r>
              <a:rPr lang="en-US" sz="1550" b="1" dirty="0">
                <a:solidFill>
                  <a:srgbClr val="405449"/>
                </a:solidFill>
                <a:latin typeface="Nobile" pitchFamily="34" charset="0"/>
                <a:ea typeface="Nobile" pitchFamily="34" charset="-122"/>
                <a:cs typeface="Nobile" pitchFamily="34" charset="-120"/>
              </a:rPr>
              <a:t>F1</a:t>
            </a:r>
            <a:endParaRPr lang="en-US" sz="1550" dirty="0"/>
          </a:p>
        </p:txBody>
      </p:sp>
      <p:sp>
        <p:nvSpPr>
          <p:cNvPr id="10" name="Text 8"/>
          <p:cNvSpPr/>
          <p:nvPr/>
        </p:nvSpPr>
        <p:spPr>
          <a:xfrm>
            <a:off x="9897070" y="3243382"/>
            <a:ext cx="1698427" cy="324326"/>
          </a:xfrm>
          <a:prstGeom prst="rect">
            <a:avLst/>
          </a:prstGeom>
          <a:noFill/>
          <a:ln/>
        </p:spPr>
        <p:txBody>
          <a:bodyPr wrap="none" lIns="0" tIns="0" rIns="0" bIns="0" rtlCol="0" anchor="t"/>
          <a:lstStyle/>
          <a:p>
            <a:pPr marL="0" indent="0" algn="l">
              <a:lnSpc>
                <a:spcPts val="2550"/>
              </a:lnSpc>
              <a:buNone/>
            </a:pPr>
            <a:r>
              <a:rPr lang="en-US" sz="1550" b="1" dirty="0">
                <a:solidFill>
                  <a:srgbClr val="405449"/>
                </a:solidFill>
                <a:latin typeface="Nobile" pitchFamily="34" charset="0"/>
                <a:ea typeface="Nobile" pitchFamily="34" charset="-122"/>
                <a:cs typeface="Nobile" pitchFamily="34" charset="-120"/>
              </a:rPr>
              <a:t>ROC-AUC</a:t>
            </a:r>
            <a:endParaRPr lang="en-US" sz="1550" dirty="0"/>
          </a:p>
        </p:txBody>
      </p:sp>
      <p:sp>
        <p:nvSpPr>
          <p:cNvPr id="11" name="Text 9"/>
          <p:cNvSpPr/>
          <p:nvPr/>
        </p:nvSpPr>
        <p:spPr>
          <a:xfrm>
            <a:off x="12008406" y="3243382"/>
            <a:ext cx="1702237" cy="324326"/>
          </a:xfrm>
          <a:prstGeom prst="rect">
            <a:avLst/>
          </a:prstGeom>
          <a:noFill/>
          <a:ln/>
        </p:spPr>
        <p:txBody>
          <a:bodyPr wrap="none" lIns="0" tIns="0" rIns="0" bIns="0" rtlCol="0" anchor="t"/>
          <a:lstStyle/>
          <a:p>
            <a:pPr marL="0" indent="0" algn="l">
              <a:lnSpc>
                <a:spcPts val="2550"/>
              </a:lnSpc>
              <a:buNone/>
            </a:pPr>
            <a:r>
              <a:rPr lang="en-US" sz="1550" b="1" dirty="0">
                <a:solidFill>
                  <a:srgbClr val="405449"/>
                </a:solidFill>
                <a:latin typeface="Nobile" pitchFamily="34" charset="0"/>
                <a:ea typeface="Nobile" pitchFamily="34" charset="-122"/>
                <a:cs typeface="Nobile" pitchFamily="34" charset="-120"/>
              </a:rPr>
              <a:t>PR-AUC</a:t>
            </a:r>
            <a:endParaRPr lang="en-US" sz="1550" dirty="0"/>
          </a:p>
        </p:txBody>
      </p:sp>
      <p:sp>
        <p:nvSpPr>
          <p:cNvPr id="12" name="Shape 10"/>
          <p:cNvSpPr/>
          <p:nvPr/>
        </p:nvSpPr>
        <p:spPr>
          <a:xfrm>
            <a:off x="717113" y="3696891"/>
            <a:ext cx="13196173" cy="582692"/>
          </a:xfrm>
          <a:prstGeom prst="rect">
            <a:avLst/>
          </a:prstGeom>
          <a:solidFill>
            <a:srgbClr val="000000">
              <a:alpha val="4000"/>
            </a:srgbClr>
          </a:solidFill>
          <a:ln/>
        </p:spPr>
        <p:txBody>
          <a:bodyPr/>
          <a:lstStyle/>
          <a:p>
            <a:endParaRPr lang="en-US"/>
          </a:p>
        </p:txBody>
      </p:sp>
      <p:sp>
        <p:nvSpPr>
          <p:cNvPr id="13" name="Text 11"/>
          <p:cNvSpPr/>
          <p:nvPr/>
        </p:nvSpPr>
        <p:spPr>
          <a:xfrm>
            <a:off x="920115" y="3826073"/>
            <a:ext cx="2230041" cy="324326"/>
          </a:xfrm>
          <a:prstGeom prst="rect">
            <a:avLst/>
          </a:prstGeom>
          <a:noFill/>
          <a:ln/>
        </p:spPr>
        <p:txBody>
          <a:bodyPr wrap="none" lIns="0" tIns="0" rIns="0" bIns="0" rtlCol="0" anchor="t"/>
          <a:lstStyle/>
          <a:p>
            <a:pPr marL="0" indent="0" algn="l">
              <a:lnSpc>
                <a:spcPts val="2550"/>
              </a:lnSpc>
              <a:buNone/>
            </a:pPr>
            <a:r>
              <a:rPr lang="en-US" sz="1550" b="1" dirty="0">
                <a:solidFill>
                  <a:srgbClr val="405449"/>
                </a:solidFill>
                <a:latin typeface="Nobile" pitchFamily="34" charset="0"/>
                <a:ea typeface="Nobile" pitchFamily="34" charset="-122"/>
                <a:cs typeface="Nobile" pitchFamily="34" charset="-120"/>
              </a:rPr>
              <a:t>Random Forest</a:t>
            </a:r>
            <a:endParaRPr lang="en-US" sz="1550" dirty="0"/>
          </a:p>
        </p:txBody>
      </p:sp>
      <p:sp>
        <p:nvSpPr>
          <p:cNvPr id="14" name="Text 12"/>
          <p:cNvSpPr/>
          <p:nvPr/>
        </p:nvSpPr>
        <p:spPr>
          <a:xfrm>
            <a:off x="3563064" y="3826073"/>
            <a:ext cx="1698427" cy="324326"/>
          </a:xfrm>
          <a:prstGeom prst="rect">
            <a:avLst/>
          </a:prstGeom>
          <a:noFill/>
          <a:ln/>
        </p:spPr>
        <p:txBody>
          <a:bodyPr wrap="none" lIns="0" tIns="0" rIns="0" bIns="0" rtlCol="0" anchor="t"/>
          <a:lstStyle/>
          <a:p>
            <a:pPr marL="0" indent="0" algn="l">
              <a:lnSpc>
                <a:spcPts val="2550"/>
              </a:lnSpc>
              <a:buNone/>
            </a:pPr>
            <a:r>
              <a:rPr lang="en-US" sz="1550" dirty="0">
                <a:solidFill>
                  <a:srgbClr val="438951"/>
                </a:solidFill>
                <a:latin typeface="Nobile" pitchFamily="34" charset="0"/>
                <a:ea typeface="Nobile" pitchFamily="34" charset="-122"/>
                <a:cs typeface="Nobile" pitchFamily="34" charset="-120"/>
              </a:rPr>
              <a:t>0.59</a:t>
            </a:r>
            <a:endParaRPr lang="en-US" sz="1550" dirty="0"/>
          </a:p>
        </p:txBody>
      </p:sp>
      <p:sp>
        <p:nvSpPr>
          <p:cNvPr id="15" name="Text 13"/>
          <p:cNvSpPr/>
          <p:nvPr/>
        </p:nvSpPr>
        <p:spPr>
          <a:xfrm>
            <a:off x="5674400" y="3826073"/>
            <a:ext cx="1698427" cy="324326"/>
          </a:xfrm>
          <a:prstGeom prst="rect">
            <a:avLst/>
          </a:prstGeom>
          <a:noFill/>
          <a:ln/>
        </p:spPr>
        <p:txBody>
          <a:bodyPr wrap="none" lIns="0" tIns="0" rIns="0" bIns="0" rtlCol="0" anchor="t"/>
          <a:lstStyle/>
          <a:p>
            <a:pPr marL="0" indent="0" algn="l">
              <a:lnSpc>
                <a:spcPts val="2550"/>
              </a:lnSpc>
              <a:buNone/>
            </a:pPr>
            <a:r>
              <a:rPr lang="en-US" sz="1550" dirty="0">
                <a:solidFill>
                  <a:srgbClr val="438951"/>
                </a:solidFill>
                <a:latin typeface="Nobile" pitchFamily="34" charset="0"/>
                <a:ea typeface="Nobile" pitchFamily="34" charset="-122"/>
                <a:cs typeface="Nobile" pitchFamily="34" charset="-120"/>
              </a:rPr>
              <a:t>0.77</a:t>
            </a:r>
            <a:endParaRPr lang="en-US" sz="1550" dirty="0"/>
          </a:p>
        </p:txBody>
      </p:sp>
      <p:sp>
        <p:nvSpPr>
          <p:cNvPr id="16" name="Text 14"/>
          <p:cNvSpPr/>
          <p:nvPr/>
        </p:nvSpPr>
        <p:spPr>
          <a:xfrm>
            <a:off x="7785735" y="3826073"/>
            <a:ext cx="1698427" cy="324326"/>
          </a:xfrm>
          <a:prstGeom prst="rect">
            <a:avLst/>
          </a:prstGeom>
          <a:noFill/>
          <a:ln/>
        </p:spPr>
        <p:txBody>
          <a:bodyPr wrap="none" lIns="0" tIns="0" rIns="0" bIns="0" rtlCol="0" anchor="t"/>
          <a:lstStyle/>
          <a:p>
            <a:pPr marL="0" indent="0" algn="l">
              <a:lnSpc>
                <a:spcPts val="2550"/>
              </a:lnSpc>
              <a:buNone/>
            </a:pPr>
            <a:r>
              <a:rPr lang="en-US" sz="1550" b="1" dirty="0">
                <a:solidFill>
                  <a:srgbClr val="438951"/>
                </a:solidFill>
                <a:latin typeface="Nobile" pitchFamily="34" charset="0"/>
                <a:ea typeface="Nobile" pitchFamily="34" charset="-122"/>
                <a:cs typeface="Nobile" pitchFamily="34" charset="-120"/>
              </a:rPr>
              <a:t>0.67</a:t>
            </a:r>
            <a:endParaRPr lang="en-US" sz="1550" dirty="0"/>
          </a:p>
        </p:txBody>
      </p:sp>
      <p:sp>
        <p:nvSpPr>
          <p:cNvPr id="17" name="Text 15"/>
          <p:cNvSpPr/>
          <p:nvPr/>
        </p:nvSpPr>
        <p:spPr>
          <a:xfrm>
            <a:off x="9897070" y="3826073"/>
            <a:ext cx="1698427" cy="324326"/>
          </a:xfrm>
          <a:prstGeom prst="rect">
            <a:avLst/>
          </a:prstGeom>
          <a:noFill/>
          <a:ln/>
        </p:spPr>
        <p:txBody>
          <a:bodyPr wrap="none" lIns="0" tIns="0" rIns="0" bIns="0" rtlCol="0" anchor="t"/>
          <a:lstStyle/>
          <a:p>
            <a:pPr marL="0" indent="0" algn="l">
              <a:lnSpc>
                <a:spcPts val="2550"/>
              </a:lnSpc>
              <a:buNone/>
            </a:pPr>
            <a:r>
              <a:rPr lang="en-US" sz="1550" dirty="0">
                <a:solidFill>
                  <a:srgbClr val="438951"/>
                </a:solidFill>
                <a:latin typeface="Nobile" pitchFamily="34" charset="0"/>
                <a:ea typeface="Nobile" pitchFamily="34" charset="-122"/>
                <a:cs typeface="Nobile" pitchFamily="34" charset="-120"/>
              </a:rPr>
              <a:t>0.95</a:t>
            </a:r>
            <a:endParaRPr lang="en-US" sz="1550" dirty="0"/>
          </a:p>
        </p:txBody>
      </p:sp>
      <p:sp>
        <p:nvSpPr>
          <p:cNvPr id="18" name="Text 16"/>
          <p:cNvSpPr/>
          <p:nvPr/>
        </p:nvSpPr>
        <p:spPr>
          <a:xfrm>
            <a:off x="12008406" y="3826073"/>
            <a:ext cx="1702237" cy="324326"/>
          </a:xfrm>
          <a:prstGeom prst="rect">
            <a:avLst/>
          </a:prstGeom>
          <a:noFill/>
          <a:ln/>
        </p:spPr>
        <p:txBody>
          <a:bodyPr wrap="none" lIns="0" tIns="0" rIns="0" bIns="0" rtlCol="0" anchor="t"/>
          <a:lstStyle/>
          <a:p>
            <a:pPr marL="0" indent="0" algn="l">
              <a:lnSpc>
                <a:spcPts val="2550"/>
              </a:lnSpc>
              <a:buNone/>
            </a:pPr>
            <a:r>
              <a:rPr lang="en-US" sz="1550" dirty="0">
                <a:solidFill>
                  <a:srgbClr val="438951"/>
                </a:solidFill>
                <a:latin typeface="Nobile" pitchFamily="34" charset="0"/>
                <a:ea typeface="Nobile" pitchFamily="34" charset="-122"/>
                <a:cs typeface="Nobile" pitchFamily="34" charset="-120"/>
              </a:rPr>
              <a:t>0.72</a:t>
            </a:r>
            <a:endParaRPr lang="en-US" sz="1550" dirty="0"/>
          </a:p>
        </p:txBody>
      </p:sp>
      <p:sp>
        <p:nvSpPr>
          <p:cNvPr id="19" name="Shape 17"/>
          <p:cNvSpPr/>
          <p:nvPr/>
        </p:nvSpPr>
        <p:spPr>
          <a:xfrm>
            <a:off x="717113" y="4279583"/>
            <a:ext cx="13196173" cy="582692"/>
          </a:xfrm>
          <a:prstGeom prst="rect">
            <a:avLst/>
          </a:prstGeom>
          <a:solidFill>
            <a:srgbClr val="FFFFFF">
              <a:alpha val="4000"/>
            </a:srgbClr>
          </a:solidFill>
          <a:ln/>
        </p:spPr>
        <p:txBody>
          <a:bodyPr/>
          <a:lstStyle/>
          <a:p>
            <a:endParaRPr lang="en-US"/>
          </a:p>
        </p:txBody>
      </p:sp>
      <p:sp>
        <p:nvSpPr>
          <p:cNvPr id="20" name="Text 18"/>
          <p:cNvSpPr/>
          <p:nvPr/>
        </p:nvSpPr>
        <p:spPr>
          <a:xfrm>
            <a:off x="920115" y="4408765"/>
            <a:ext cx="2230041" cy="324326"/>
          </a:xfrm>
          <a:prstGeom prst="rect">
            <a:avLst/>
          </a:prstGeom>
          <a:noFill/>
          <a:ln/>
        </p:spPr>
        <p:txBody>
          <a:bodyPr wrap="none" lIns="0" tIns="0" rIns="0" bIns="0" rtlCol="0" anchor="t"/>
          <a:lstStyle/>
          <a:p>
            <a:pPr marL="0" indent="0" algn="l">
              <a:lnSpc>
                <a:spcPts val="2550"/>
              </a:lnSpc>
              <a:buNone/>
            </a:pPr>
            <a:r>
              <a:rPr lang="en-US" sz="1550" dirty="0">
                <a:solidFill>
                  <a:srgbClr val="405449"/>
                </a:solidFill>
                <a:latin typeface="Nobile" pitchFamily="34" charset="0"/>
                <a:ea typeface="Nobile" pitchFamily="34" charset="-122"/>
                <a:cs typeface="Nobile" pitchFamily="34" charset="-120"/>
              </a:rPr>
              <a:t>XGBoost (weighted)</a:t>
            </a:r>
            <a:endParaRPr lang="en-US" sz="1550" dirty="0"/>
          </a:p>
        </p:txBody>
      </p:sp>
      <p:sp>
        <p:nvSpPr>
          <p:cNvPr id="21" name="Text 19"/>
          <p:cNvSpPr/>
          <p:nvPr/>
        </p:nvSpPr>
        <p:spPr>
          <a:xfrm>
            <a:off x="3563064" y="4408765"/>
            <a:ext cx="1698427" cy="324326"/>
          </a:xfrm>
          <a:prstGeom prst="rect">
            <a:avLst/>
          </a:prstGeom>
          <a:noFill/>
          <a:ln/>
        </p:spPr>
        <p:txBody>
          <a:bodyPr wrap="none" lIns="0" tIns="0" rIns="0" bIns="0" rtlCol="0" anchor="t"/>
          <a:lstStyle/>
          <a:p>
            <a:pPr marL="0" indent="0" algn="l">
              <a:lnSpc>
                <a:spcPts val="2550"/>
              </a:lnSpc>
              <a:buNone/>
            </a:pPr>
            <a:r>
              <a:rPr lang="en-US" sz="1550" dirty="0">
                <a:solidFill>
                  <a:srgbClr val="405449"/>
                </a:solidFill>
                <a:latin typeface="Nobile" pitchFamily="34" charset="0"/>
                <a:ea typeface="Nobile" pitchFamily="34" charset="-122"/>
                <a:cs typeface="Nobile" pitchFamily="34" charset="-120"/>
              </a:rPr>
              <a:t>0.51</a:t>
            </a:r>
            <a:endParaRPr lang="en-US" sz="1550" dirty="0"/>
          </a:p>
        </p:txBody>
      </p:sp>
      <p:sp>
        <p:nvSpPr>
          <p:cNvPr id="22" name="Text 20"/>
          <p:cNvSpPr/>
          <p:nvPr/>
        </p:nvSpPr>
        <p:spPr>
          <a:xfrm>
            <a:off x="5674400" y="4408765"/>
            <a:ext cx="1698427" cy="324326"/>
          </a:xfrm>
          <a:prstGeom prst="rect">
            <a:avLst/>
          </a:prstGeom>
          <a:noFill/>
          <a:ln/>
        </p:spPr>
        <p:txBody>
          <a:bodyPr wrap="none" lIns="0" tIns="0" rIns="0" bIns="0" rtlCol="0" anchor="t"/>
          <a:lstStyle/>
          <a:p>
            <a:pPr marL="0" indent="0" algn="l">
              <a:lnSpc>
                <a:spcPts val="2550"/>
              </a:lnSpc>
              <a:buNone/>
            </a:pPr>
            <a:r>
              <a:rPr lang="en-US" sz="1550" b="1" dirty="0">
                <a:solidFill>
                  <a:srgbClr val="405449"/>
                </a:solidFill>
                <a:latin typeface="Nobile" pitchFamily="34" charset="0"/>
                <a:ea typeface="Nobile" pitchFamily="34" charset="-122"/>
                <a:cs typeface="Nobile" pitchFamily="34" charset="-120"/>
              </a:rPr>
              <a:t>0.80</a:t>
            </a:r>
            <a:endParaRPr lang="en-US" sz="1550" dirty="0"/>
          </a:p>
        </p:txBody>
      </p:sp>
      <p:sp>
        <p:nvSpPr>
          <p:cNvPr id="23" name="Text 21"/>
          <p:cNvSpPr/>
          <p:nvPr/>
        </p:nvSpPr>
        <p:spPr>
          <a:xfrm>
            <a:off x="7785735" y="4408765"/>
            <a:ext cx="1698427" cy="324326"/>
          </a:xfrm>
          <a:prstGeom prst="rect">
            <a:avLst/>
          </a:prstGeom>
          <a:noFill/>
          <a:ln/>
        </p:spPr>
        <p:txBody>
          <a:bodyPr wrap="none" lIns="0" tIns="0" rIns="0" bIns="0" rtlCol="0" anchor="t"/>
          <a:lstStyle/>
          <a:p>
            <a:pPr marL="0" indent="0" algn="l">
              <a:lnSpc>
                <a:spcPts val="2550"/>
              </a:lnSpc>
              <a:buNone/>
            </a:pPr>
            <a:r>
              <a:rPr lang="en-US" sz="1550" dirty="0">
                <a:solidFill>
                  <a:srgbClr val="405449"/>
                </a:solidFill>
                <a:latin typeface="Nobile" pitchFamily="34" charset="0"/>
                <a:ea typeface="Nobile" pitchFamily="34" charset="-122"/>
                <a:cs typeface="Nobile" pitchFamily="34" charset="-120"/>
              </a:rPr>
              <a:t>0.62</a:t>
            </a:r>
            <a:endParaRPr lang="en-US" sz="1550" dirty="0"/>
          </a:p>
        </p:txBody>
      </p:sp>
      <p:sp>
        <p:nvSpPr>
          <p:cNvPr id="24" name="Text 22"/>
          <p:cNvSpPr/>
          <p:nvPr/>
        </p:nvSpPr>
        <p:spPr>
          <a:xfrm>
            <a:off x="9897070" y="4408765"/>
            <a:ext cx="1698427" cy="324326"/>
          </a:xfrm>
          <a:prstGeom prst="rect">
            <a:avLst/>
          </a:prstGeom>
          <a:noFill/>
          <a:ln/>
        </p:spPr>
        <p:txBody>
          <a:bodyPr wrap="none" lIns="0" tIns="0" rIns="0" bIns="0" rtlCol="0" anchor="t"/>
          <a:lstStyle/>
          <a:p>
            <a:pPr marL="0" indent="0" algn="l">
              <a:lnSpc>
                <a:spcPts val="2550"/>
              </a:lnSpc>
              <a:buNone/>
            </a:pPr>
            <a:r>
              <a:rPr lang="en-US" sz="1550" dirty="0">
                <a:solidFill>
                  <a:srgbClr val="405449"/>
                </a:solidFill>
                <a:latin typeface="Nobile" pitchFamily="34" charset="0"/>
                <a:ea typeface="Nobile" pitchFamily="34" charset="-122"/>
                <a:cs typeface="Nobile" pitchFamily="34" charset="-120"/>
              </a:rPr>
              <a:t>0.95</a:t>
            </a:r>
            <a:endParaRPr lang="en-US" sz="1550" dirty="0"/>
          </a:p>
        </p:txBody>
      </p:sp>
      <p:sp>
        <p:nvSpPr>
          <p:cNvPr id="25" name="Text 23"/>
          <p:cNvSpPr/>
          <p:nvPr/>
        </p:nvSpPr>
        <p:spPr>
          <a:xfrm>
            <a:off x="12008406" y="4408765"/>
            <a:ext cx="1702237" cy="324326"/>
          </a:xfrm>
          <a:prstGeom prst="rect">
            <a:avLst/>
          </a:prstGeom>
          <a:noFill/>
          <a:ln/>
        </p:spPr>
        <p:txBody>
          <a:bodyPr wrap="none" lIns="0" tIns="0" rIns="0" bIns="0" rtlCol="0" anchor="t"/>
          <a:lstStyle/>
          <a:p>
            <a:pPr marL="0" indent="0" algn="l">
              <a:lnSpc>
                <a:spcPts val="2550"/>
              </a:lnSpc>
              <a:buNone/>
            </a:pPr>
            <a:r>
              <a:rPr lang="en-US" sz="1550" b="1" dirty="0">
                <a:solidFill>
                  <a:srgbClr val="405449"/>
                </a:solidFill>
                <a:latin typeface="Nobile" pitchFamily="34" charset="0"/>
                <a:ea typeface="Nobile" pitchFamily="34" charset="-122"/>
                <a:cs typeface="Nobile" pitchFamily="34" charset="-120"/>
              </a:rPr>
              <a:t>0.74</a:t>
            </a:r>
            <a:endParaRPr lang="en-US" sz="1550" dirty="0"/>
          </a:p>
        </p:txBody>
      </p:sp>
      <p:sp>
        <p:nvSpPr>
          <p:cNvPr id="26" name="Shape 24"/>
          <p:cNvSpPr/>
          <p:nvPr/>
        </p:nvSpPr>
        <p:spPr>
          <a:xfrm>
            <a:off x="717113" y="4862274"/>
            <a:ext cx="13196173" cy="582692"/>
          </a:xfrm>
          <a:prstGeom prst="rect">
            <a:avLst/>
          </a:prstGeom>
          <a:solidFill>
            <a:srgbClr val="000000">
              <a:alpha val="4000"/>
            </a:srgbClr>
          </a:solidFill>
          <a:ln/>
        </p:spPr>
        <p:txBody>
          <a:bodyPr/>
          <a:lstStyle/>
          <a:p>
            <a:endParaRPr lang="en-US"/>
          </a:p>
        </p:txBody>
      </p:sp>
      <p:sp>
        <p:nvSpPr>
          <p:cNvPr id="27" name="Text 25"/>
          <p:cNvSpPr/>
          <p:nvPr/>
        </p:nvSpPr>
        <p:spPr>
          <a:xfrm>
            <a:off x="920115" y="4991457"/>
            <a:ext cx="2230041" cy="324326"/>
          </a:xfrm>
          <a:prstGeom prst="rect">
            <a:avLst/>
          </a:prstGeom>
          <a:noFill/>
          <a:ln/>
        </p:spPr>
        <p:txBody>
          <a:bodyPr wrap="none" lIns="0" tIns="0" rIns="0" bIns="0" rtlCol="0" anchor="t"/>
          <a:lstStyle/>
          <a:p>
            <a:pPr marL="0" indent="0" algn="l">
              <a:lnSpc>
                <a:spcPts val="2550"/>
              </a:lnSpc>
              <a:buNone/>
            </a:pPr>
            <a:r>
              <a:rPr lang="en-US" sz="1550" dirty="0">
                <a:solidFill>
                  <a:srgbClr val="405449"/>
                </a:solidFill>
                <a:latin typeface="Nobile" pitchFamily="34" charset="0"/>
                <a:ea typeface="Nobile" pitchFamily="34" charset="-122"/>
                <a:cs typeface="Nobile" pitchFamily="34" charset="-120"/>
              </a:rPr>
              <a:t>Logistic Regression</a:t>
            </a:r>
            <a:endParaRPr lang="en-US" sz="1550" dirty="0"/>
          </a:p>
        </p:txBody>
      </p:sp>
      <p:sp>
        <p:nvSpPr>
          <p:cNvPr id="28" name="Text 26"/>
          <p:cNvSpPr/>
          <p:nvPr/>
        </p:nvSpPr>
        <p:spPr>
          <a:xfrm>
            <a:off x="3563064" y="4991457"/>
            <a:ext cx="1698427" cy="324326"/>
          </a:xfrm>
          <a:prstGeom prst="rect">
            <a:avLst/>
          </a:prstGeom>
          <a:noFill/>
          <a:ln/>
        </p:spPr>
        <p:txBody>
          <a:bodyPr wrap="none" lIns="0" tIns="0" rIns="0" bIns="0" rtlCol="0" anchor="t"/>
          <a:lstStyle/>
          <a:p>
            <a:pPr marL="0" indent="0" algn="l">
              <a:lnSpc>
                <a:spcPts val="2550"/>
              </a:lnSpc>
              <a:buNone/>
            </a:pPr>
            <a:r>
              <a:rPr lang="en-US" sz="1550" dirty="0">
                <a:solidFill>
                  <a:srgbClr val="405449"/>
                </a:solidFill>
                <a:latin typeface="Nobile" pitchFamily="34" charset="0"/>
                <a:ea typeface="Nobile" pitchFamily="34" charset="-122"/>
                <a:cs typeface="Nobile" pitchFamily="34" charset="-120"/>
              </a:rPr>
              <a:t>0.39</a:t>
            </a:r>
            <a:endParaRPr lang="en-US" sz="1550" dirty="0"/>
          </a:p>
        </p:txBody>
      </p:sp>
      <p:sp>
        <p:nvSpPr>
          <p:cNvPr id="29" name="Text 27"/>
          <p:cNvSpPr/>
          <p:nvPr/>
        </p:nvSpPr>
        <p:spPr>
          <a:xfrm>
            <a:off x="5674400" y="4991457"/>
            <a:ext cx="1698427" cy="324326"/>
          </a:xfrm>
          <a:prstGeom prst="rect">
            <a:avLst/>
          </a:prstGeom>
          <a:noFill/>
          <a:ln/>
        </p:spPr>
        <p:txBody>
          <a:bodyPr wrap="none" lIns="0" tIns="0" rIns="0" bIns="0" rtlCol="0" anchor="t"/>
          <a:lstStyle/>
          <a:p>
            <a:pPr marL="0" indent="0" algn="l">
              <a:lnSpc>
                <a:spcPts val="2550"/>
              </a:lnSpc>
              <a:buNone/>
            </a:pPr>
            <a:r>
              <a:rPr lang="en-US" sz="1550" b="1" dirty="0">
                <a:solidFill>
                  <a:srgbClr val="405449"/>
                </a:solidFill>
                <a:latin typeface="Nobile" pitchFamily="34" charset="0"/>
                <a:ea typeface="Nobile" pitchFamily="34" charset="-122"/>
                <a:cs typeface="Nobile" pitchFamily="34" charset="-120"/>
              </a:rPr>
              <a:t>0.86</a:t>
            </a:r>
            <a:endParaRPr lang="en-US" sz="1550" dirty="0"/>
          </a:p>
        </p:txBody>
      </p:sp>
      <p:sp>
        <p:nvSpPr>
          <p:cNvPr id="30" name="Text 28"/>
          <p:cNvSpPr/>
          <p:nvPr/>
        </p:nvSpPr>
        <p:spPr>
          <a:xfrm>
            <a:off x="7785735" y="4991457"/>
            <a:ext cx="1698427" cy="324326"/>
          </a:xfrm>
          <a:prstGeom prst="rect">
            <a:avLst/>
          </a:prstGeom>
          <a:noFill/>
          <a:ln/>
        </p:spPr>
        <p:txBody>
          <a:bodyPr wrap="none" lIns="0" tIns="0" rIns="0" bIns="0" rtlCol="0" anchor="t"/>
          <a:lstStyle/>
          <a:p>
            <a:pPr marL="0" indent="0" algn="l">
              <a:lnSpc>
                <a:spcPts val="2550"/>
              </a:lnSpc>
              <a:buNone/>
            </a:pPr>
            <a:r>
              <a:rPr lang="en-US" sz="1550" dirty="0">
                <a:solidFill>
                  <a:srgbClr val="405449"/>
                </a:solidFill>
                <a:latin typeface="Nobile" pitchFamily="34" charset="0"/>
                <a:ea typeface="Nobile" pitchFamily="34" charset="-122"/>
                <a:cs typeface="Nobile" pitchFamily="34" charset="-120"/>
              </a:rPr>
              <a:t>0.54</a:t>
            </a:r>
            <a:endParaRPr lang="en-US" sz="1550" dirty="0"/>
          </a:p>
        </p:txBody>
      </p:sp>
      <p:sp>
        <p:nvSpPr>
          <p:cNvPr id="31" name="Text 29"/>
          <p:cNvSpPr/>
          <p:nvPr/>
        </p:nvSpPr>
        <p:spPr>
          <a:xfrm>
            <a:off x="9897070" y="4991457"/>
            <a:ext cx="1698427" cy="324326"/>
          </a:xfrm>
          <a:prstGeom prst="rect">
            <a:avLst/>
          </a:prstGeom>
          <a:noFill/>
          <a:ln/>
        </p:spPr>
        <p:txBody>
          <a:bodyPr wrap="none" lIns="0" tIns="0" rIns="0" bIns="0" rtlCol="0" anchor="t"/>
          <a:lstStyle/>
          <a:p>
            <a:pPr marL="0" indent="0" algn="l">
              <a:lnSpc>
                <a:spcPts val="2550"/>
              </a:lnSpc>
              <a:buNone/>
            </a:pPr>
            <a:r>
              <a:rPr lang="en-US" sz="1550" dirty="0">
                <a:solidFill>
                  <a:srgbClr val="405449"/>
                </a:solidFill>
                <a:latin typeface="Nobile" pitchFamily="34" charset="0"/>
                <a:ea typeface="Nobile" pitchFamily="34" charset="-122"/>
                <a:cs typeface="Nobile" pitchFamily="34" charset="-120"/>
              </a:rPr>
              <a:t>0.95</a:t>
            </a:r>
            <a:endParaRPr lang="en-US" sz="1550" dirty="0"/>
          </a:p>
        </p:txBody>
      </p:sp>
      <p:sp>
        <p:nvSpPr>
          <p:cNvPr id="32" name="Text 30"/>
          <p:cNvSpPr/>
          <p:nvPr/>
        </p:nvSpPr>
        <p:spPr>
          <a:xfrm>
            <a:off x="12008406" y="4991457"/>
            <a:ext cx="1702237" cy="324326"/>
          </a:xfrm>
          <a:prstGeom prst="rect">
            <a:avLst/>
          </a:prstGeom>
          <a:noFill/>
          <a:ln/>
        </p:spPr>
        <p:txBody>
          <a:bodyPr wrap="none" lIns="0" tIns="0" rIns="0" bIns="0" rtlCol="0" anchor="t"/>
          <a:lstStyle/>
          <a:p>
            <a:pPr marL="0" indent="0" algn="l">
              <a:lnSpc>
                <a:spcPts val="2550"/>
              </a:lnSpc>
              <a:buNone/>
            </a:pPr>
            <a:r>
              <a:rPr lang="en-US" sz="1550" dirty="0">
                <a:solidFill>
                  <a:srgbClr val="405449"/>
                </a:solidFill>
                <a:latin typeface="Nobile" pitchFamily="34" charset="0"/>
                <a:ea typeface="Nobile" pitchFamily="34" charset="-122"/>
                <a:cs typeface="Nobile" pitchFamily="34" charset="-120"/>
              </a:rPr>
              <a:t>0.74</a:t>
            </a:r>
            <a:endParaRPr lang="en-US" sz="1550" dirty="0"/>
          </a:p>
        </p:txBody>
      </p:sp>
      <p:sp>
        <p:nvSpPr>
          <p:cNvPr id="33" name="Shape 31"/>
          <p:cNvSpPr/>
          <p:nvPr/>
        </p:nvSpPr>
        <p:spPr>
          <a:xfrm>
            <a:off x="717113" y="5444966"/>
            <a:ext cx="13196173" cy="582692"/>
          </a:xfrm>
          <a:prstGeom prst="rect">
            <a:avLst/>
          </a:prstGeom>
          <a:solidFill>
            <a:srgbClr val="FFFFFF">
              <a:alpha val="4000"/>
            </a:srgbClr>
          </a:solidFill>
          <a:ln/>
        </p:spPr>
        <p:txBody>
          <a:bodyPr/>
          <a:lstStyle/>
          <a:p>
            <a:endParaRPr lang="en-US"/>
          </a:p>
        </p:txBody>
      </p:sp>
      <p:sp>
        <p:nvSpPr>
          <p:cNvPr id="34" name="Text 32"/>
          <p:cNvSpPr/>
          <p:nvPr/>
        </p:nvSpPr>
        <p:spPr>
          <a:xfrm>
            <a:off x="920115" y="5574149"/>
            <a:ext cx="2230041" cy="324326"/>
          </a:xfrm>
          <a:prstGeom prst="rect">
            <a:avLst/>
          </a:prstGeom>
          <a:noFill/>
          <a:ln/>
        </p:spPr>
        <p:txBody>
          <a:bodyPr wrap="none" lIns="0" tIns="0" rIns="0" bIns="0" rtlCol="0" anchor="t"/>
          <a:lstStyle/>
          <a:p>
            <a:pPr marL="0" indent="0" algn="l">
              <a:lnSpc>
                <a:spcPts val="2550"/>
              </a:lnSpc>
              <a:buNone/>
            </a:pPr>
            <a:r>
              <a:rPr lang="en-US" sz="1550" dirty="0">
                <a:solidFill>
                  <a:srgbClr val="405449"/>
                </a:solidFill>
                <a:latin typeface="Nobile" pitchFamily="34" charset="0"/>
                <a:ea typeface="Nobile" pitchFamily="34" charset="-122"/>
                <a:cs typeface="Nobile" pitchFamily="34" charset="-120"/>
              </a:rPr>
              <a:t>Decision Tree</a:t>
            </a:r>
            <a:endParaRPr lang="en-US" sz="1550" dirty="0"/>
          </a:p>
        </p:txBody>
      </p:sp>
      <p:sp>
        <p:nvSpPr>
          <p:cNvPr id="35" name="Text 33"/>
          <p:cNvSpPr/>
          <p:nvPr/>
        </p:nvSpPr>
        <p:spPr>
          <a:xfrm>
            <a:off x="3563064" y="5574149"/>
            <a:ext cx="1698427" cy="324326"/>
          </a:xfrm>
          <a:prstGeom prst="rect">
            <a:avLst/>
          </a:prstGeom>
          <a:noFill/>
          <a:ln/>
        </p:spPr>
        <p:txBody>
          <a:bodyPr wrap="none" lIns="0" tIns="0" rIns="0" bIns="0" rtlCol="0" anchor="t"/>
          <a:lstStyle/>
          <a:p>
            <a:pPr marL="0" indent="0" algn="l">
              <a:lnSpc>
                <a:spcPts val="2550"/>
              </a:lnSpc>
              <a:buNone/>
            </a:pPr>
            <a:r>
              <a:rPr lang="en-US" sz="1550" dirty="0">
                <a:solidFill>
                  <a:srgbClr val="405449"/>
                </a:solidFill>
                <a:latin typeface="Nobile" pitchFamily="34" charset="0"/>
                <a:ea typeface="Nobile" pitchFamily="34" charset="-122"/>
                <a:cs typeface="Nobile" pitchFamily="34" charset="-120"/>
              </a:rPr>
              <a:t>0.45</a:t>
            </a:r>
            <a:endParaRPr lang="en-US" sz="1550" dirty="0"/>
          </a:p>
        </p:txBody>
      </p:sp>
      <p:sp>
        <p:nvSpPr>
          <p:cNvPr id="36" name="Text 34"/>
          <p:cNvSpPr/>
          <p:nvPr/>
        </p:nvSpPr>
        <p:spPr>
          <a:xfrm>
            <a:off x="5674400" y="5574149"/>
            <a:ext cx="1698427" cy="324326"/>
          </a:xfrm>
          <a:prstGeom prst="rect">
            <a:avLst/>
          </a:prstGeom>
          <a:noFill/>
          <a:ln/>
        </p:spPr>
        <p:txBody>
          <a:bodyPr wrap="none" lIns="0" tIns="0" rIns="0" bIns="0" rtlCol="0" anchor="t"/>
          <a:lstStyle/>
          <a:p>
            <a:pPr marL="0" indent="0" algn="l">
              <a:lnSpc>
                <a:spcPts val="2550"/>
              </a:lnSpc>
              <a:buNone/>
            </a:pPr>
            <a:r>
              <a:rPr lang="en-US" sz="1550" dirty="0">
                <a:solidFill>
                  <a:srgbClr val="405449"/>
                </a:solidFill>
                <a:latin typeface="Nobile" pitchFamily="34" charset="0"/>
                <a:ea typeface="Nobile" pitchFamily="34" charset="-122"/>
                <a:cs typeface="Nobile" pitchFamily="34" charset="-120"/>
              </a:rPr>
              <a:t>0.78</a:t>
            </a:r>
            <a:endParaRPr lang="en-US" sz="1550" dirty="0"/>
          </a:p>
        </p:txBody>
      </p:sp>
      <p:sp>
        <p:nvSpPr>
          <p:cNvPr id="37" name="Text 35"/>
          <p:cNvSpPr/>
          <p:nvPr/>
        </p:nvSpPr>
        <p:spPr>
          <a:xfrm>
            <a:off x="7785735" y="5574149"/>
            <a:ext cx="1698427" cy="324326"/>
          </a:xfrm>
          <a:prstGeom prst="rect">
            <a:avLst/>
          </a:prstGeom>
          <a:noFill/>
          <a:ln/>
        </p:spPr>
        <p:txBody>
          <a:bodyPr wrap="none" lIns="0" tIns="0" rIns="0" bIns="0" rtlCol="0" anchor="t"/>
          <a:lstStyle/>
          <a:p>
            <a:pPr marL="0" indent="0" algn="l">
              <a:lnSpc>
                <a:spcPts val="2550"/>
              </a:lnSpc>
              <a:buNone/>
            </a:pPr>
            <a:r>
              <a:rPr lang="en-US" sz="1550" dirty="0">
                <a:solidFill>
                  <a:srgbClr val="405449"/>
                </a:solidFill>
                <a:latin typeface="Nobile" pitchFamily="34" charset="0"/>
                <a:ea typeface="Nobile" pitchFamily="34" charset="-122"/>
                <a:cs typeface="Nobile" pitchFamily="34" charset="-120"/>
              </a:rPr>
              <a:t>0.54</a:t>
            </a:r>
            <a:endParaRPr lang="en-US" sz="1550" dirty="0"/>
          </a:p>
        </p:txBody>
      </p:sp>
      <p:sp>
        <p:nvSpPr>
          <p:cNvPr id="38" name="Text 36"/>
          <p:cNvSpPr/>
          <p:nvPr/>
        </p:nvSpPr>
        <p:spPr>
          <a:xfrm>
            <a:off x="9897070" y="5574149"/>
            <a:ext cx="1698427" cy="324326"/>
          </a:xfrm>
          <a:prstGeom prst="rect">
            <a:avLst/>
          </a:prstGeom>
          <a:noFill/>
          <a:ln/>
        </p:spPr>
        <p:txBody>
          <a:bodyPr wrap="none" lIns="0" tIns="0" rIns="0" bIns="0" rtlCol="0" anchor="t"/>
          <a:lstStyle/>
          <a:p>
            <a:pPr marL="0" indent="0" algn="l">
              <a:lnSpc>
                <a:spcPts val="2550"/>
              </a:lnSpc>
              <a:buNone/>
            </a:pPr>
            <a:r>
              <a:rPr lang="en-US" sz="1550" dirty="0">
                <a:solidFill>
                  <a:srgbClr val="405449"/>
                </a:solidFill>
                <a:latin typeface="Nobile" pitchFamily="34" charset="0"/>
                <a:ea typeface="Nobile" pitchFamily="34" charset="-122"/>
                <a:cs typeface="Nobile" pitchFamily="34" charset="-120"/>
              </a:rPr>
              <a:t>0.86</a:t>
            </a:r>
            <a:endParaRPr lang="en-US" sz="1550" dirty="0"/>
          </a:p>
        </p:txBody>
      </p:sp>
      <p:sp>
        <p:nvSpPr>
          <p:cNvPr id="39" name="Text 37"/>
          <p:cNvSpPr/>
          <p:nvPr/>
        </p:nvSpPr>
        <p:spPr>
          <a:xfrm>
            <a:off x="12008406" y="5574149"/>
            <a:ext cx="1702237" cy="324326"/>
          </a:xfrm>
          <a:prstGeom prst="rect">
            <a:avLst/>
          </a:prstGeom>
          <a:noFill/>
          <a:ln/>
        </p:spPr>
        <p:txBody>
          <a:bodyPr wrap="none" lIns="0" tIns="0" rIns="0" bIns="0" rtlCol="0" anchor="t"/>
          <a:lstStyle/>
          <a:p>
            <a:pPr marL="0" indent="0" algn="l">
              <a:lnSpc>
                <a:spcPts val="2550"/>
              </a:lnSpc>
              <a:buNone/>
            </a:pPr>
            <a:r>
              <a:rPr lang="en-US" sz="1550" dirty="0">
                <a:solidFill>
                  <a:srgbClr val="405449"/>
                </a:solidFill>
                <a:latin typeface="Nobile" pitchFamily="34" charset="0"/>
                <a:ea typeface="Nobile" pitchFamily="34" charset="-122"/>
                <a:cs typeface="Nobile" pitchFamily="34" charset="-120"/>
              </a:rPr>
              <a:t>0.57</a:t>
            </a:r>
            <a:endParaRPr lang="en-US" sz="1550" dirty="0"/>
          </a:p>
        </p:txBody>
      </p:sp>
      <p:sp>
        <p:nvSpPr>
          <p:cNvPr id="40" name="Text 38"/>
          <p:cNvSpPr/>
          <p:nvPr/>
        </p:nvSpPr>
        <p:spPr>
          <a:xfrm>
            <a:off x="709493" y="6339364"/>
            <a:ext cx="4675346" cy="380047"/>
          </a:xfrm>
          <a:prstGeom prst="rect">
            <a:avLst/>
          </a:prstGeom>
          <a:noFill/>
          <a:ln/>
        </p:spPr>
        <p:txBody>
          <a:bodyPr wrap="none" lIns="0" tIns="0" rIns="0" bIns="0" rtlCol="0" anchor="t"/>
          <a:lstStyle/>
          <a:p>
            <a:pPr marL="0" indent="0" algn="l">
              <a:lnSpc>
                <a:spcPts val="2950"/>
              </a:lnSpc>
              <a:buNone/>
            </a:pPr>
            <a:r>
              <a:rPr lang="en-US" sz="2350" b="1" dirty="0">
                <a:solidFill>
                  <a:srgbClr val="3B4540"/>
                </a:solidFill>
                <a:latin typeface="Fraunces Extra Bold" pitchFamily="34" charset="0"/>
                <a:ea typeface="Fraunces Extra Bold" pitchFamily="34" charset="-122"/>
                <a:cs typeface="Fraunces Extra Bold" pitchFamily="34" charset="-120"/>
              </a:rPr>
              <a:t>Chosen Model: Random Forest</a:t>
            </a:r>
            <a:endParaRPr lang="en-US" sz="2350" dirty="0"/>
          </a:p>
        </p:txBody>
      </p:sp>
      <p:sp>
        <p:nvSpPr>
          <p:cNvPr id="41" name="Text 39"/>
          <p:cNvSpPr/>
          <p:nvPr/>
        </p:nvSpPr>
        <p:spPr>
          <a:xfrm>
            <a:off x="709493" y="7023497"/>
            <a:ext cx="13211413" cy="648653"/>
          </a:xfrm>
          <a:prstGeom prst="rect">
            <a:avLst/>
          </a:prstGeom>
          <a:noFill/>
          <a:ln/>
        </p:spPr>
        <p:txBody>
          <a:bodyPr wrap="square" lIns="0" tIns="0" rIns="0" bIns="0" rtlCol="0" anchor="t"/>
          <a:lstStyle/>
          <a:p>
            <a:pPr marL="0" indent="0" algn="l">
              <a:lnSpc>
                <a:spcPts val="2550"/>
              </a:lnSpc>
              <a:buNone/>
            </a:pPr>
            <a:r>
              <a:rPr lang="en-US" sz="1550" dirty="0">
                <a:solidFill>
                  <a:srgbClr val="405449"/>
                </a:solidFill>
                <a:latin typeface="Nobile" pitchFamily="34" charset="0"/>
                <a:ea typeface="Nobile" pitchFamily="34" charset="-122"/>
                <a:cs typeface="Nobile" pitchFamily="34" charset="-120"/>
              </a:rPr>
              <a:t>Selected for its optimal blend of performance, stability, and interpretability, with a lower risk of overfitting compared to other high-performing models.</a:t>
            </a:r>
            <a:endParaRPr lang="en-US" sz="1550" dirty="0"/>
          </a:p>
        </p:txBody>
      </p:sp>
      <p:sp>
        <p:nvSpPr>
          <p:cNvPr id="42" name="Rectangle 41">
            <a:extLst>
              <a:ext uri="{FF2B5EF4-FFF2-40B4-BE49-F238E27FC236}">
                <a16:creationId xmlns:a16="http://schemas.microsoft.com/office/drawing/2014/main" id="{62CBE95A-274D-BB5E-DCAF-37C5A1E172A3}"/>
              </a:ext>
            </a:extLst>
          </p:cNvPr>
          <p:cNvSpPr/>
          <p:nvPr/>
        </p:nvSpPr>
        <p:spPr>
          <a:xfrm>
            <a:off x="12660284" y="7672150"/>
            <a:ext cx="1895301" cy="47432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992035"/>
            <a:ext cx="5670590" cy="708779"/>
          </a:xfrm>
          <a:prstGeom prst="rect">
            <a:avLst/>
          </a:prstGeom>
          <a:noFill/>
          <a:ln/>
        </p:spPr>
        <p:txBody>
          <a:bodyPr wrap="none" lIns="0" tIns="0" rIns="0" bIns="0" rtlCol="0" anchor="t"/>
          <a:lstStyle/>
          <a:p>
            <a:pPr marL="0" indent="0" algn="l">
              <a:lnSpc>
                <a:spcPts val="5550"/>
              </a:lnSpc>
              <a:buNone/>
            </a:pPr>
            <a:endParaRPr lang="en-US" sz="4450" dirty="0"/>
          </a:p>
        </p:txBody>
      </p:sp>
      <p:pic>
        <p:nvPicPr>
          <p:cNvPr id="3" name="Image 0" descr="preencoded.png"/>
          <p:cNvPicPr>
            <a:picLocks noChangeAspect="1"/>
          </p:cNvPicPr>
          <p:nvPr/>
        </p:nvPicPr>
        <p:blipFill>
          <a:blip r:embed="rId3"/>
          <a:stretch>
            <a:fillRect/>
          </a:stretch>
        </p:blipFill>
        <p:spPr>
          <a:xfrm>
            <a:off x="3726894" y="3300412"/>
            <a:ext cx="3558778" cy="2721888"/>
          </a:xfrm>
          <a:prstGeom prst="rect">
            <a:avLst/>
          </a:prstGeom>
        </p:spPr>
      </p:pic>
      <p:pic>
        <p:nvPicPr>
          <p:cNvPr id="4" name="Image 1" descr="preencoded.png"/>
          <p:cNvPicPr>
            <a:picLocks noChangeAspect="1"/>
          </p:cNvPicPr>
          <p:nvPr/>
        </p:nvPicPr>
        <p:blipFill>
          <a:blip r:embed="rId4"/>
          <a:stretch>
            <a:fillRect/>
          </a:stretch>
        </p:blipFill>
        <p:spPr>
          <a:xfrm>
            <a:off x="7467124" y="3300412"/>
            <a:ext cx="3436382" cy="2721888"/>
          </a:xfrm>
          <a:prstGeom prst="rect">
            <a:avLst/>
          </a:prstGeom>
        </p:spPr>
      </p:pic>
      <p:sp>
        <p:nvSpPr>
          <p:cNvPr id="5" name="Rectangle 4">
            <a:extLst>
              <a:ext uri="{FF2B5EF4-FFF2-40B4-BE49-F238E27FC236}">
                <a16:creationId xmlns:a16="http://schemas.microsoft.com/office/drawing/2014/main" id="{ED7E043E-EBC5-B999-75B1-F91DA63D6946}"/>
              </a:ext>
            </a:extLst>
          </p:cNvPr>
          <p:cNvSpPr/>
          <p:nvPr/>
        </p:nvSpPr>
        <p:spPr>
          <a:xfrm>
            <a:off x="12660284" y="7672150"/>
            <a:ext cx="1895301" cy="47432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5666" y="954881"/>
            <a:ext cx="12092345" cy="505063"/>
          </a:xfrm>
          <a:prstGeom prst="rect">
            <a:avLst/>
          </a:prstGeom>
          <a:noFill/>
          <a:ln/>
        </p:spPr>
        <p:txBody>
          <a:bodyPr wrap="none" lIns="0" tIns="0" rIns="0" bIns="0" rtlCol="0" anchor="t"/>
          <a:lstStyle/>
          <a:p>
            <a:pPr marL="0" indent="0" algn="l">
              <a:lnSpc>
                <a:spcPts val="3950"/>
              </a:lnSpc>
              <a:buNone/>
            </a:pPr>
            <a:r>
              <a:rPr lang="en-US" sz="3150" b="1" dirty="0">
                <a:solidFill>
                  <a:srgbClr val="3B4540"/>
                </a:solidFill>
                <a:latin typeface="Fraunces Extra Bold" pitchFamily="34" charset="0"/>
                <a:ea typeface="Fraunces Extra Bold" pitchFamily="34" charset="-122"/>
                <a:cs typeface="Fraunces Extra Bold" pitchFamily="34" charset="-120"/>
              </a:rPr>
              <a:t>Feature Importance: Understanding Why Fraud is Detected</a:t>
            </a:r>
            <a:endParaRPr lang="en-US" sz="3150" dirty="0"/>
          </a:p>
        </p:txBody>
      </p:sp>
      <p:sp>
        <p:nvSpPr>
          <p:cNvPr id="3" name="Text 1"/>
          <p:cNvSpPr/>
          <p:nvPr/>
        </p:nvSpPr>
        <p:spPr>
          <a:xfrm>
            <a:off x="565666" y="1783199"/>
            <a:ext cx="13499068" cy="258604"/>
          </a:xfrm>
          <a:prstGeom prst="rect">
            <a:avLst/>
          </a:prstGeom>
          <a:noFill/>
          <a:ln/>
        </p:spPr>
        <p:txBody>
          <a:bodyPr wrap="none" lIns="0" tIns="0" rIns="0" bIns="0" rtlCol="0" anchor="t"/>
          <a:lstStyle/>
          <a:p>
            <a:pPr marL="0" indent="0" algn="l">
              <a:lnSpc>
                <a:spcPts val="2000"/>
              </a:lnSpc>
              <a:buNone/>
            </a:pPr>
            <a:r>
              <a:rPr lang="en-US" sz="1250" dirty="0">
                <a:solidFill>
                  <a:srgbClr val="405449"/>
                </a:solidFill>
                <a:latin typeface="Nobile" pitchFamily="34" charset="0"/>
                <a:ea typeface="Nobile" pitchFamily="34" charset="-122"/>
                <a:cs typeface="Nobile" pitchFamily="34" charset="-120"/>
              </a:rPr>
              <a:t>The Random Forest model highlights key behavioral indicators that strongly correlate with fraudulent activity, providing actionable insights for investigators.</a:t>
            </a:r>
            <a:endParaRPr lang="en-US" sz="1250" dirty="0"/>
          </a:p>
        </p:txBody>
      </p:sp>
      <p:sp>
        <p:nvSpPr>
          <p:cNvPr id="4" name="Shape 2"/>
          <p:cNvSpPr/>
          <p:nvPr/>
        </p:nvSpPr>
        <p:spPr>
          <a:xfrm>
            <a:off x="565666" y="2223611"/>
            <a:ext cx="363617" cy="363617"/>
          </a:xfrm>
          <a:prstGeom prst="roundRect">
            <a:avLst>
              <a:gd name="adj" fmla="val 40007"/>
            </a:avLst>
          </a:prstGeom>
          <a:solidFill>
            <a:srgbClr val="E8F3E8"/>
          </a:solidFill>
          <a:ln/>
        </p:spPr>
        <p:txBody>
          <a:bodyPr/>
          <a:lstStyle/>
          <a:p>
            <a:endParaRPr lang="en-US"/>
          </a:p>
        </p:txBody>
      </p:sp>
      <p:sp>
        <p:nvSpPr>
          <p:cNvPr id="5" name="Text 3"/>
          <p:cNvSpPr/>
          <p:nvPr/>
        </p:nvSpPr>
        <p:spPr>
          <a:xfrm>
            <a:off x="626269" y="2253913"/>
            <a:ext cx="242411" cy="303014"/>
          </a:xfrm>
          <a:prstGeom prst="rect">
            <a:avLst/>
          </a:prstGeom>
          <a:noFill/>
          <a:ln/>
        </p:spPr>
        <p:txBody>
          <a:bodyPr wrap="none" lIns="0" tIns="0" rIns="0" bIns="0" rtlCol="0" anchor="t"/>
          <a:lstStyle/>
          <a:p>
            <a:pPr marL="0" indent="0" algn="ctr">
              <a:lnSpc>
                <a:spcPts val="1900"/>
              </a:lnSpc>
              <a:buNone/>
            </a:pPr>
            <a:r>
              <a:rPr lang="en-US" sz="1900" b="1" dirty="0">
                <a:solidFill>
                  <a:srgbClr val="405449"/>
                </a:solidFill>
                <a:latin typeface="Fraunces Extra Bold" pitchFamily="34" charset="0"/>
                <a:ea typeface="Fraunces Extra Bold" pitchFamily="34" charset="-122"/>
                <a:cs typeface="Fraunces Extra Bold" pitchFamily="34" charset="-120"/>
              </a:rPr>
              <a:t>1</a:t>
            </a:r>
            <a:endParaRPr lang="en-US" sz="1900" dirty="0"/>
          </a:p>
        </p:txBody>
      </p:sp>
      <p:sp>
        <p:nvSpPr>
          <p:cNvPr id="6" name="Text 4"/>
          <p:cNvSpPr/>
          <p:nvPr/>
        </p:nvSpPr>
        <p:spPr>
          <a:xfrm>
            <a:off x="1090851" y="2279094"/>
            <a:ext cx="4070271" cy="252532"/>
          </a:xfrm>
          <a:prstGeom prst="rect">
            <a:avLst/>
          </a:prstGeom>
          <a:noFill/>
          <a:ln/>
        </p:spPr>
        <p:txBody>
          <a:bodyPr wrap="none" lIns="0" tIns="0" rIns="0" bIns="0" rtlCol="0" anchor="t"/>
          <a:lstStyle/>
          <a:p>
            <a:pPr marL="0" indent="0" algn="l">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Total Claim Cost (Inpatient/Outpatient)</a:t>
            </a:r>
            <a:endParaRPr lang="en-US" sz="1550" dirty="0"/>
          </a:p>
        </p:txBody>
      </p:sp>
      <p:sp>
        <p:nvSpPr>
          <p:cNvPr id="7" name="Text 5"/>
          <p:cNvSpPr/>
          <p:nvPr/>
        </p:nvSpPr>
        <p:spPr>
          <a:xfrm>
            <a:off x="1090851" y="2628543"/>
            <a:ext cx="12973883" cy="258604"/>
          </a:xfrm>
          <a:prstGeom prst="rect">
            <a:avLst/>
          </a:prstGeom>
          <a:noFill/>
          <a:ln/>
        </p:spPr>
        <p:txBody>
          <a:bodyPr wrap="none" lIns="0" tIns="0" rIns="0" bIns="0" rtlCol="0" anchor="t"/>
          <a:lstStyle/>
          <a:p>
            <a:pPr marL="0" indent="0" algn="l">
              <a:lnSpc>
                <a:spcPts val="2000"/>
              </a:lnSpc>
              <a:buNone/>
            </a:pPr>
            <a:r>
              <a:rPr lang="en-US" sz="1250" dirty="0">
                <a:solidFill>
                  <a:srgbClr val="405449"/>
                </a:solidFill>
                <a:latin typeface="Nobile" pitchFamily="34" charset="0"/>
                <a:ea typeface="Nobile" pitchFamily="34" charset="-122"/>
                <a:cs typeface="Nobile" pitchFamily="34" charset="-120"/>
              </a:rPr>
              <a:t>Providers with unusually high overall billing amounts are significant flags.</a:t>
            </a:r>
            <a:endParaRPr lang="en-US" sz="1250" dirty="0"/>
          </a:p>
        </p:txBody>
      </p:sp>
      <p:sp>
        <p:nvSpPr>
          <p:cNvPr id="8" name="Shape 6"/>
          <p:cNvSpPr/>
          <p:nvPr/>
        </p:nvSpPr>
        <p:spPr>
          <a:xfrm>
            <a:off x="565666" y="3210401"/>
            <a:ext cx="363617" cy="363617"/>
          </a:xfrm>
          <a:prstGeom prst="roundRect">
            <a:avLst>
              <a:gd name="adj" fmla="val 40007"/>
            </a:avLst>
          </a:prstGeom>
          <a:solidFill>
            <a:srgbClr val="E8F3E8"/>
          </a:solidFill>
          <a:ln/>
        </p:spPr>
        <p:txBody>
          <a:bodyPr/>
          <a:lstStyle/>
          <a:p>
            <a:endParaRPr lang="en-US"/>
          </a:p>
        </p:txBody>
      </p:sp>
      <p:sp>
        <p:nvSpPr>
          <p:cNvPr id="9" name="Text 7"/>
          <p:cNvSpPr/>
          <p:nvPr/>
        </p:nvSpPr>
        <p:spPr>
          <a:xfrm>
            <a:off x="626269" y="3240703"/>
            <a:ext cx="242411" cy="303014"/>
          </a:xfrm>
          <a:prstGeom prst="rect">
            <a:avLst/>
          </a:prstGeom>
          <a:noFill/>
          <a:ln/>
        </p:spPr>
        <p:txBody>
          <a:bodyPr wrap="none" lIns="0" tIns="0" rIns="0" bIns="0" rtlCol="0" anchor="t"/>
          <a:lstStyle/>
          <a:p>
            <a:pPr marL="0" indent="0" algn="ctr">
              <a:lnSpc>
                <a:spcPts val="1900"/>
              </a:lnSpc>
              <a:buNone/>
            </a:pPr>
            <a:r>
              <a:rPr lang="en-US" sz="1900" b="1" dirty="0">
                <a:solidFill>
                  <a:srgbClr val="405449"/>
                </a:solidFill>
                <a:latin typeface="Fraunces Extra Bold" pitchFamily="34" charset="0"/>
                <a:ea typeface="Fraunces Extra Bold" pitchFamily="34" charset="-122"/>
                <a:cs typeface="Fraunces Extra Bold" pitchFamily="34" charset="-120"/>
              </a:rPr>
              <a:t>2</a:t>
            </a:r>
            <a:endParaRPr lang="en-US" sz="1900" dirty="0"/>
          </a:p>
        </p:txBody>
      </p:sp>
      <p:sp>
        <p:nvSpPr>
          <p:cNvPr id="10" name="Text 8"/>
          <p:cNvSpPr/>
          <p:nvPr/>
        </p:nvSpPr>
        <p:spPr>
          <a:xfrm>
            <a:off x="1090851" y="3265884"/>
            <a:ext cx="2474476" cy="252532"/>
          </a:xfrm>
          <a:prstGeom prst="rect">
            <a:avLst/>
          </a:prstGeom>
          <a:noFill/>
          <a:ln/>
        </p:spPr>
        <p:txBody>
          <a:bodyPr wrap="none" lIns="0" tIns="0" rIns="0" bIns="0" rtlCol="0" anchor="t"/>
          <a:lstStyle/>
          <a:p>
            <a:pPr marL="0" indent="0" algn="l">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Claim-per-Patient Ratio</a:t>
            </a:r>
            <a:endParaRPr lang="en-US" sz="1550" dirty="0"/>
          </a:p>
        </p:txBody>
      </p:sp>
      <p:sp>
        <p:nvSpPr>
          <p:cNvPr id="11" name="Text 9"/>
          <p:cNvSpPr/>
          <p:nvPr/>
        </p:nvSpPr>
        <p:spPr>
          <a:xfrm>
            <a:off x="1090851" y="3615333"/>
            <a:ext cx="12973883" cy="258604"/>
          </a:xfrm>
          <a:prstGeom prst="rect">
            <a:avLst/>
          </a:prstGeom>
          <a:noFill/>
          <a:ln/>
        </p:spPr>
        <p:txBody>
          <a:bodyPr wrap="none" lIns="0" tIns="0" rIns="0" bIns="0" rtlCol="0" anchor="t"/>
          <a:lstStyle/>
          <a:p>
            <a:pPr marL="0" indent="0" algn="l">
              <a:lnSpc>
                <a:spcPts val="2000"/>
              </a:lnSpc>
              <a:buNone/>
            </a:pPr>
            <a:r>
              <a:rPr lang="en-US" sz="1250" dirty="0">
                <a:solidFill>
                  <a:srgbClr val="405449"/>
                </a:solidFill>
                <a:latin typeface="Nobile" pitchFamily="34" charset="0"/>
                <a:ea typeface="Nobile" pitchFamily="34" charset="-122"/>
                <a:cs typeface="Nobile" pitchFamily="34" charset="-120"/>
              </a:rPr>
              <a:t>A high volume of claims per unique patient indicates potential over-servicing or unnecessary procedures.</a:t>
            </a:r>
            <a:endParaRPr lang="en-US" sz="1250" dirty="0"/>
          </a:p>
        </p:txBody>
      </p:sp>
      <p:sp>
        <p:nvSpPr>
          <p:cNvPr id="12" name="Shape 10"/>
          <p:cNvSpPr/>
          <p:nvPr/>
        </p:nvSpPr>
        <p:spPr>
          <a:xfrm>
            <a:off x="565666" y="4197191"/>
            <a:ext cx="363617" cy="363617"/>
          </a:xfrm>
          <a:prstGeom prst="roundRect">
            <a:avLst>
              <a:gd name="adj" fmla="val 40007"/>
            </a:avLst>
          </a:prstGeom>
          <a:solidFill>
            <a:srgbClr val="E8F3E8"/>
          </a:solidFill>
          <a:ln/>
        </p:spPr>
        <p:txBody>
          <a:bodyPr/>
          <a:lstStyle/>
          <a:p>
            <a:endParaRPr lang="en-US"/>
          </a:p>
        </p:txBody>
      </p:sp>
      <p:sp>
        <p:nvSpPr>
          <p:cNvPr id="13" name="Text 11"/>
          <p:cNvSpPr/>
          <p:nvPr/>
        </p:nvSpPr>
        <p:spPr>
          <a:xfrm>
            <a:off x="626269" y="4227493"/>
            <a:ext cx="242411" cy="303014"/>
          </a:xfrm>
          <a:prstGeom prst="rect">
            <a:avLst/>
          </a:prstGeom>
          <a:noFill/>
          <a:ln/>
        </p:spPr>
        <p:txBody>
          <a:bodyPr wrap="none" lIns="0" tIns="0" rIns="0" bIns="0" rtlCol="0" anchor="t"/>
          <a:lstStyle/>
          <a:p>
            <a:pPr marL="0" indent="0" algn="ctr">
              <a:lnSpc>
                <a:spcPts val="1900"/>
              </a:lnSpc>
              <a:buNone/>
            </a:pPr>
            <a:r>
              <a:rPr lang="en-US" sz="1900" b="1" dirty="0">
                <a:solidFill>
                  <a:srgbClr val="405449"/>
                </a:solidFill>
                <a:latin typeface="Fraunces Extra Bold" pitchFamily="34" charset="0"/>
                <a:ea typeface="Fraunces Extra Bold" pitchFamily="34" charset="-122"/>
                <a:cs typeface="Fraunces Extra Bold" pitchFamily="34" charset="-120"/>
              </a:rPr>
              <a:t>3</a:t>
            </a:r>
            <a:endParaRPr lang="en-US" sz="1900" dirty="0"/>
          </a:p>
        </p:txBody>
      </p:sp>
      <p:sp>
        <p:nvSpPr>
          <p:cNvPr id="14" name="Text 12"/>
          <p:cNvSpPr/>
          <p:nvPr/>
        </p:nvSpPr>
        <p:spPr>
          <a:xfrm>
            <a:off x="1090851" y="4252674"/>
            <a:ext cx="2369820" cy="252532"/>
          </a:xfrm>
          <a:prstGeom prst="rect">
            <a:avLst/>
          </a:prstGeom>
          <a:noFill/>
          <a:ln/>
        </p:spPr>
        <p:txBody>
          <a:bodyPr wrap="none" lIns="0" tIns="0" rIns="0" bIns="0" rtlCol="0" anchor="t"/>
          <a:lstStyle/>
          <a:p>
            <a:pPr marL="0" indent="0" algn="l">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Deceased Patient Ratio</a:t>
            </a:r>
            <a:endParaRPr lang="en-US" sz="1550" dirty="0"/>
          </a:p>
        </p:txBody>
      </p:sp>
      <p:sp>
        <p:nvSpPr>
          <p:cNvPr id="15" name="Text 13"/>
          <p:cNvSpPr/>
          <p:nvPr/>
        </p:nvSpPr>
        <p:spPr>
          <a:xfrm>
            <a:off x="1090851" y="4602123"/>
            <a:ext cx="12973883" cy="258604"/>
          </a:xfrm>
          <a:prstGeom prst="rect">
            <a:avLst/>
          </a:prstGeom>
          <a:noFill/>
          <a:ln/>
        </p:spPr>
        <p:txBody>
          <a:bodyPr wrap="none" lIns="0" tIns="0" rIns="0" bIns="0" rtlCol="0" anchor="t"/>
          <a:lstStyle/>
          <a:p>
            <a:pPr marL="0" indent="0" algn="l">
              <a:lnSpc>
                <a:spcPts val="2000"/>
              </a:lnSpc>
              <a:buNone/>
            </a:pPr>
            <a:r>
              <a:rPr lang="en-US" sz="1250" dirty="0">
                <a:solidFill>
                  <a:srgbClr val="405449"/>
                </a:solidFill>
                <a:latin typeface="Nobile" pitchFamily="34" charset="0"/>
                <a:ea typeface="Nobile" pitchFamily="34" charset="-122"/>
                <a:cs typeface="Nobile" pitchFamily="34" charset="-120"/>
              </a:rPr>
              <a:t>A disproportionate number of claims for deceased patients is a strong indicator of fraud.</a:t>
            </a:r>
            <a:endParaRPr lang="en-US" sz="1250" dirty="0"/>
          </a:p>
        </p:txBody>
      </p:sp>
      <p:sp>
        <p:nvSpPr>
          <p:cNvPr id="16" name="Shape 14"/>
          <p:cNvSpPr/>
          <p:nvPr/>
        </p:nvSpPr>
        <p:spPr>
          <a:xfrm>
            <a:off x="565666" y="5183981"/>
            <a:ext cx="363617" cy="363617"/>
          </a:xfrm>
          <a:prstGeom prst="roundRect">
            <a:avLst>
              <a:gd name="adj" fmla="val 40007"/>
            </a:avLst>
          </a:prstGeom>
          <a:solidFill>
            <a:srgbClr val="E8F3E8"/>
          </a:solidFill>
          <a:ln/>
        </p:spPr>
        <p:txBody>
          <a:bodyPr/>
          <a:lstStyle/>
          <a:p>
            <a:endParaRPr lang="en-US"/>
          </a:p>
        </p:txBody>
      </p:sp>
      <p:sp>
        <p:nvSpPr>
          <p:cNvPr id="17" name="Text 15"/>
          <p:cNvSpPr/>
          <p:nvPr/>
        </p:nvSpPr>
        <p:spPr>
          <a:xfrm>
            <a:off x="626269" y="5214283"/>
            <a:ext cx="242411" cy="303014"/>
          </a:xfrm>
          <a:prstGeom prst="rect">
            <a:avLst/>
          </a:prstGeom>
          <a:noFill/>
          <a:ln/>
        </p:spPr>
        <p:txBody>
          <a:bodyPr wrap="none" lIns="0" tIns="0" rIns="0" bIns="0" rtlCol="0" anchor="t"/>
          <a:lstStyle/>
          <a:p>
            <a:pPr marL="0" indent="0" algn="ctr">
              <a:lnSpc>
                <a:spcPts val="1900"/>
              </a:lnSpc>
              <a:buNone/>
            </a:pPr>
            <a:r>
              <a:rPr lang="en-US" sz="1900" b="1" dirty="0">
                <a:solidFill>
                  <a:srgbClr val="405449"/>
                </a:solidFill>
                <a:latin typeface="Fraunces Extra Bold" pitchFamily="34" charset="0"/>
                <a:ea typeface="Fraunces Extra Bold" pitchFamily="34" charset="-122"/>
                <a:cs typeface="Fraunces Extra Bold" pitchFamily="34" charset="-120"/>
              </a:rPr>
              <a:t>4</a:t>
            </a:r>
            <a:endParaRPr lang="en-US" sz="1900" dirty="0"/>
          </a:p>
        </p:txBody>
      </p:sp>
      <p:sp>
        <p:nvSpPr>
          <p:cNvPr id="18" name="Text 16"/>
          <p:cNvSpPr/>
          <p:nvPr/>
        </p:nvSpPr>
        <p:spPr>
          <a:xfrm>
            <a:off x="1090851" y="5239464"/>
            <a:ext cx="2275999" cy="252532"/>
          </a:xfrm>
          <a:prstGeom prst="rect">
            <a:avLst/>
          </a:prstGeom>
          <a:noFill/>
          <a:ln/>
        </p:spPr>
        <p:txBody>
          <a:bodyPr wrap="none" lIns="0" tIns="0" rIns="0" bIns="0" rtlCol="0" anchor="t"/>
          <a:lstStyle/>
          <a:p>
            <a:pPr marL="0" indent="0" algn="l">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Inpatient Claim Count</a:t>
            </a:r>
            <a:endParaRPr lang="en-US" sz="1550" dirty="0"/>
          </a:p>
        </p:txBody>
      </p:sp>
      <p:sp>
        <p:nvSpPr>
          <p:cNvPr id="19" name="Text 17"/>
          <p:cNvSpPr/>
          <p:nvPr/>
        </p:nvSpPr>
        <p:spPr>
          <a:xfrm>
            <a:off x="1090851" y="5588913"/>
            <a:ext cx="12973883" cy="258604"/>
          </a:xfrm>
          <a:prstGeom prst="rect">
            <a:avLst/>
          </a:prstGeom>
          <a:noFill/>
          <a:ln/>
        </p:spPr>
        <p:txBody>
          <a:bodyPr wrap="none" lIns="0" tIns="0" rIns="0" bIns="0" rtlCol="0" anchor="t"/>
          <a:lstStyle/>
          <a:p>
            <a:pPr marL="0" indent="0" algn="l">
              <a:lnSpc>
                <a:spcPts val="2000"/>
              </a:lnSpc>
              <a:buNone/>
            </a:pPr>
            <a:r>
              <a:rPr lang="en-US" sz="1250" dirty="0">
                <a:solidFill>
                  <a:srgbClr val="405449"/>
                </a:solidFill>
                <a:latin typeface="Nobile" pitchFamily="34" charset="0"/>
                <a:ea typeface="Nobile" pitchFamily="34" charset="-122"/>
                <a:cs typeface="Nobile" pitchFamily="34" charset="-120"/>
              </a:rPr>
              <a:t>Frequent or high counts of inpatient claims can signal suspicious billing patterns.</a:t>
            </a:r>
            <a:endParaRPr lang="en-US" sz="1250" dirty="0"/>
          </a:p>
        </p:txBody>
      </p:sp>
      <p:sp>
        <p:nvSpPr>
          <p:cNvPr id="20" name="Shape 18"/>
          <p:cNvSpPr/>
          <p:nvPr/>
        </p:nvSpPr>
        <p:spPr>
          <a:xfrm>
            <a:off x="565666" y="6170771"/>
            <a:ext cx="363617" cy="363617"/>
          </a:xfrm>
          <a:prstGeom prst="roundRect">
            <a:avLst>
              <a:gd name="adj" fmla="val 40007"/>
            </a:avLst>
          </a:prstGeom>
          <a:solidFill>
            <a:srgbClr val="E8F3E8"/>
          </a:solidFill>
          <a:ln/>
        </p:spPr>
        <p:txBody>
          <a:bodyPr/>
          <a:lstStyle/>
          <a:p>
            <a:endParaRPr lang="en-US"/>
          </a:p>
        </p:txBody>
      </p:sp>
      <p:sp>
        <p:nvSpPr>
          <p:cNvPr id="21" name="Text 19"/>
          <p:cNvSpPr/>
          <p:nvPr/>
        </p:nvSpPr>
        <p:spPr>
          <a:xfrm>
            <a:off x="626269" y="6201073"/>
            <a:ext cx="242411" cy="303014"/>
          </a:xfrm>
          <a:prstGeom prst="rect">
            <a:avLst/>
          </a:prstGeom>
          <a:noFill/>
          <a:ln/>
        </p:spPr>
        <p:txBody>
          <a:bodyPr wrap="none" lIns="0" tIns="0" rIns="0" bIns="0" rtlCol="0" anchor="t"/>
          <a:lstStyle/>
          <a:p>
            <a:pPr marL="0" indent="0" algn="ctr">
              <a:lnSpc>
                <a:spcPts val="1900"/>
              </a:lnSpc>
              <a:buNone/>
            </a:pPr>
            <a:r>
              <a:rPr lang="en-US" sz="1900" b="1" dirty="0">
                <a:solidFill>
                  <a:srgbClr val="405449"/>
                </a:solidFill>
                <a:latin typeface="Fraunces Extra Bold" pitchFamily="34" charset="0"/>
                <a:ea typeface="Fraunces Extra Bold" pitchFamily="34" charset="-122"/>
                <a:cs typeface="Fraunces Extra Bold" pitchFamily="34" charset="-120"/>
              </a:rPr>
              <a:t>5</a:t>
            </a:r>
            <a:endParaRPr lang="en-US" sz="1900" dirty="0"/>
          </a:p>
        </p:txBody>
      </p:sp>
      <p:sp>
        <p:nvSpPr>
          <p:cNvPr id="22" name="Text 20"/>
          <p:cNvSpPr/>
          <p:nvPr/>
        </p:nvSpPr>
        <p:spPr>
          <a:xfrm>
            <a:off x="1090851" y="6226254"/>
            <a:ext cx="2415897" cy="252532"/>
          </a:xfrm>
          <a:prstGeom prst="rect">
            <a:avLst/>
          </a:prstGeom>
          <a:noFill/>
          <a:ln/>
        </p:spPr>
        <p:txBody>
          <a:bodyPr wrap="none" lIns="0" tIns="0" rIns="0" bIns="0" rtlCol="0" anchor="t"/>
          <a:lstStyle/>
          <a:p>
            <a:pPr marL="0" indent="0" algn="l">
              <a:lnSpc>
                <a:spcPts val="1950"/>
              </a:lnSpc>
              <a:buNone/>
            </a:pPr>
            <a:r>
              <a:rPr lang="en-US" sz="1550" b="1" dirty="0">
                <a:solidFill>
                  <a:srgbClr val="405449"/>
                </a:solidFill>
                <a:latin typeface="Fraunces Extra Bold" pitchFamily="34" charset="0"/>
                <a:ea typeface="Fraunces Extra Bold" pitchFamily="34" charset="-122"/>
                <a:cs typeface="Fraunces Extra Bold" pitchFamily="34" charset="-120"/>
              </a:rPr>
              <a:t>Chronic Conditions Mix</a:t>
            </a:r>
            <a:endParaRPr lang="en-US" sz="1550" dirty="0"/>
          </a:p>
        </p:txBody>
      </p:sp>
      <p:sp>
        <p:nvSpPr>
          <p:cNvPr id="23" name="Text 21"/>
          <p:cNvSpPr/>
          <p:nvPr/>
        </p:nvSpPr>
        <p:spPr>
          <a:xfrm>
            <a:off x="1090851" y="6575703"/>
            <a:ext cx="12973883" cy="258604"/>
          </a:xfrm>
          <a:prstGeom prst="rect">
            <a:avLst/>
          </a:prstGeom>
          <a:noFill/>
          <a:ln/>
        </p:spPr>
        <p:txBody>
          <a:bodyPr wrap="none" lIns="0" tIns="0" rIns="0" bIns="0" rtlCol="0" anchor="t"/>
          <a:lstStyle/>
          <a:p>
            <a:pPr marL="0" indent="0" algn="l">
              <a:lnSpc>
                <a:spcPts val="2000"/>
              </a:lnSpc>
              <a:buNone/>
            </a:pPr>
            <a:r>
              <a:rPr lang="en-US" sz="1250" dirty="0">
                <a:solidFill>
                  <a:srgbClr val="405449"/>
                </a:solidFill>
                <a:latin typeface="Nobile" pitchFamily="34" charset="0"/>
                <a:ea typeface="Nobile" pitchFamily="34" charset="-122"/>
                <a:cs typeface="Nobile" pitchFamily="34" charset="-120"/>
              </a:rPr>
              <a:t>An unusual distribution or prevalence of chronic conditions billed by a provider can be a red flag.</a:t>
            </a:r>
            <a:endParaRPr lang="en-US" sz="1250" dirty="0"/>
          </a:p>
        </p:txBody>
      </p:sp>
      <p:sp>
        <p:nvSpPr>
          <p:cNvPr id="24" name="Text 22"/>
          <p:cNvSpPr/>
          <p:nvPr/>
        </p:nvSpPr>
        <p:spPr>
          <a:xfrm>
            <a:off x="565666" y="7016115"/>
            <a:ext cx="13499068" cy="258604"/>
          </a:xfrm>
          <a:prstGeom prst="rect">
            <a:avLst/>
          </a:prstGeom>
          <a:noFill/>
          <a:ln/>
        </p:spPr>
        <p:txBody>
          <a:bodyPr wrap="none" lIns="0" tIns="0" rIns="0" bIns="0" rtlCol="0" anchor="t"/>
          <a:lstStyle/>
          <a:p>
            <a:pPr marL="0" indent="0" algn="l">
              <a:lnSpc>
                <a:spcPts val="2000"/>
              </a:lnSpc>
              <a:buNone/>
            </a:pPr>
            <a:r>
              <a:rPr lang="en-US" sz="1250" b="1" dirty="0">
                <a:solidFill>
                  <a:srgbClr val="405449"/>
                </a:solidFill>
                <a:latin typeface="Nobile" pitchFamily="34" charset="0"/>
                <a:ea typeface="Nobile" pitchFamily="34" charset="-122"/>
                <a:cs typeface="Nobile" pitchFamily="34" charset="-120"/>
              </a:rPr>
              <a:t>Interpretation:</a:t>
            </a:r>
            <a:r>
              <a:rPr lang="en-US" sz="1250" dirty="0">
                <a:solidFill>
                  <a:srgbClr val="405449"/>
                </a:solidFill>
                <a:latin typeface="Nobile" pitchFamily="34" charset="0"/>
                <a:ea typeface="Nobile" pitchFamily="34" charset="-122"/>
                <a:cs typeface="Nobile" pitchFamily="34" charset="-120"/>
              </a:rPr>
              <a:t> Providers exhibiting </a:t>
            </a:r>
            <a:r>
              <a:rPr lang="en-US" sz="1250" dirty="0">
                <a:solidFill>
                  <a:srgbClr val="438951"/>
                </a:solidFill>
                <a:latin typeface="Nobile" pitchFamily="34" charset="0"/>
                <a:ea typeface="Nobile" pitchFamily="34" charset="-122"/>
                <a:cs typeface="Nobile" pitchFamily="34" charset="-120"/>
              </a:rPr>
              <a:t>unusually high billing per patient</a:t>
            </a:r>
            <a:r>
              <a:rPr lang="en-US" sz="1250" dirty="0">
                <a:solidFill>
                  <a:srgbClr val="405449"/>
                </a:solidFill>
                <a:latin typeface="Nobile" pitchFamily="34" charset="0"/>
                <a:ea typeface="Nobile" pitchFamily="34" charset="-122"/>
                <a:cs typeface="Nobile" pitchFamily="34" charset="-120"/>
              </a:rPr>
              <a:t> or a significant number of claims for </a:t>
            </a:r>
            <a:r>
              <a:rPr lang="en-US" sz="1250" dirty="0">
                <a:solidFill>
                  <a:srgbClr val="438951"/>
                </a:solidFill>
                <a:latin typeface="Nobile" pitchFamily="34" charset="0"/>
                <a:ea typeface="Nobile" pitchFamily="34" charset="-122"/>
                <a:cs typeface="Nobile" pitchFamily="34" charset="-120"/>
              </a:rPr>
              <a:t>deceased patients</a:t>
            </a:r>
            <a:r>
              <a:rPr lang="en-US" sz="1250" dirty="0">
                <a:solidFill>
                  <a:srgbClr val="405449"/>
                </a:solidFill>
                <a:latin typeface="Nobile" pitchFamily="34" charset="0"/>
                <a:ea typeface="Nobile" pitchFamily="34" charset="-122"/>
                <a:cs typeface="Nobile" pitchFamily="34" charset="-120"/>
              </a:rPr>
              <a:t> are prioritized for investigation.</a:t>
            </a:r>
            <a:endParaRPr lang="en-US" sz="1250" dirty="0"/>
          </a:p>
        </p:txBody>
      </p:sp>
      <p:sp>
        <p:nvSpPr>
          <p:cNvPr id="25" name="Rectangle 24">
            <a:extLst>
              <a:ext uri="{FF2B5EF4-FFF2-40B4-BE49-F238E27FC236}">
                <a16:creationId xmlns:a16="http://schemas.microsoft.com/office/drawing/2014/main" id="{F3247B31-71DA-F06D-7C36-99EDD37C820C}"/>
              </a:ext>
            </a:extLst>
          </p:cNvPr>
          <p:cNvSpPr/>
          <p:nvPr/>
        </p:nvSpPr>
        <p:spPr>
          <a:xfrm>
            <a:off x="12660284" y="7672150"/>
            <a:ext cx="1895301" cy="47432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71644" y="606504"/>
            <a:ext cx="13087112" cy="1378029"/>
          </a:xfrm>
          <a:prstGeom prst="rect">
            <a:avLst/>
          </a:prstGeom>
          <a:noFill/>
          <a:ln/>
        </p:spPr>
        <p:txBody>
          <a:bodyPr wrap="square" lIns="0" tIns="0" rIns="0" bIns="0" rtlCol="0" anchor="t"/>
          <a:lstStyle/>
          <a:p>
            <a:pPr marL="0" indent="0" algn="l">
              <a:lnSpc>
                <a:spcPts val="5400"/>
              </a:lnSpc>
              <a:buNone/>
            </a:pPr>
            <a:r>
              <a:rPr lang="en-US" sz="4300" b="1" dirty="0">
                <a:solidFill>
                  <a:srgbClr val="3B4540"/>
                </a:solidFill>
                <a:latin typeface="Fraunces Extra Bold" pitchFamily="34" charset="0"/>
                <a:ea typeface="Fraunces Extra Bold" pitchFamily="34" charset="-122"/>
                <a:cs typeface="Fraunces Extra Bold" pitchFamily="34" charset="-120"/>
              </a:rPr>
              <a:t>Error Analysis: Refining Our Fraud Detection System</a:t>
            </a:r>
            <a:endParaRPr lang="en-US" sz="4300" dirty="0"/>
          </a:p>
        </p:txBody>
      </p:sp>
      <p:sp>
        <p:nvSpPr>
          <p:cNvPr id="3" name="Text 1"/>
          <p:cNvSpPr/>
          <p:nvPr/>
        </p:nvSpPr>
        <p:spPr>
          <a:xfrm>
            <a:off x="771644" y="2425422"/>
            <a:ext cx="13087112" cy="705564"/>
          </a:xfrm>
          <a:prstGeom prst="rect">
            <a:avLst/>
          </a:prstGeom>
          <a:noFill/>
          <a:ln/>
        </p:spPr>
        <p:txBody>
          <a:bodyPr wrap="square" lIns="0" tIns="0" rIns="0" bIns="0" rtlCol="0" anchor="t"/>
          <a:lstStyle/>
          <a:p>
            <a:pPr marL="0" indent="0" algn="l">
              <a:lnSpc>
                <a:spcPts val="2750"/>
              </a:lnSpc>
              <a:buNone/>
            </a:pPr>
            <a:r>
              <a:rPr lang="en-US" sz="1700" dirty="0">
                <a:solidFill>
                  <a:srgbClr val="405449"/>
                </a:solidFill>
                <a:latin typeface="Nobile" pitchFamily="34" charset="0"/>
                <a:ea typeface="Nobile" pitchFamily="34" charset="-122"/>
                <a:cs typeface="Nobile" pitchFamily="34" charset="-120"/>
              </a:rPr>
              <a:t>A detailed analysis of false positives and false negatives reveals areas for further model refinement and highlights the nuances of healthcare fraud detection.</a:t>
            </a:r>
            <a:endParaRPr lang="en-US" sz="1700" dirty="0"/>
          </a:p>
        </p:txBody>
      </p:sp>
      <p:sp>
        <p:nvSpPr>
          <p:cNvPr id="4" name="Text 2"/>
          <p:cNvSpPr/>
          <p:nvPr/>
        </p:nvSpPr>
        <p:spPr>
          <a:xfrm>
            <a:off x="771644" y="3599378"/>
            <a:ext cx="6274594" cy="826770"/>
          </a:xfrm>
          <a:prstGeom prst="rect">
            <a:avLst/>
          </a:prstGeom>
          <a:noFill/>
          <a:ln/>
        </p:spPr>
        <p:txBody>
          <a:bodyPr wrap="square" lIns="0" tIns="0" rIns="0" bIns="0" rtlCol="0" anchor="t"/>
          <a:lstStyle/>
          <a:p>
            <a:pPr marL="0" indent="0" algn="l">
              <a:lnSpc>
                <a:spcPts val="3250"/>
              </a:lnSpc>
              <a:buNone/>
            </a:pPr>
            <a:r>
              <a:rPr lang="en-US" sz="2600" b="1" dirty="0">
                <a:solidFill>
                  <a:srgbClr val="4A644E"/>
                </a:solidFill>
                <a:latin typeface="Fraunces Extra Bold" pitchFamily="34" charset="0"/>
                <a:ea typeface="Fraunces Extra Bold" pitchFamily="34" charset="-122"/>
                <a:cs typeface="Fraunces Extra Bold" pitchFamily="34" charset="-120"/>
              </a:rPr>
              <a:t>False Positives</a:t>
            </a:r>
            <a:r>
              <a:rPr lang="en-US" sz="2600" b="1" dirty="0">
                <a:solidFill>
                  <a:srgbClr val="3B4540"/>
                </a:solidFill>
                <a:latin typeface="Fraunces Extra Bold" pitchFamily="34" charset="0"/>
                <a:ea typeface="Fraunces Extra Bold" pitchFamily="34" charset="-122"/>
                <a:cs typeface="Fraunces Extra Bold" pitchFamily="34" charset="-120"/>
              </a:rPr>
              <a:t> (Legitimate providers flagged as fraud)</a:t>
            </a:r>
            <a:endParaRPr lang="en-US" sz="2600" dirty="0"/>
          </a:p>
        </p:txBody>
      </p:sp>
      <p:sp>
        <p:nvSpPr>
          <p:cNvPr id="5" name="Text 3"/>
          <p:cNvSpPr/>
          <p:nvPr/>
        </p:nvSpPr>
        <p:spPr>
          <a:xfrm>
            <a:off x="771644" y="4646533"/>
            <a:ext cx="6274594" cy="1058347"/>
          </a:xfrm>
          <a:prstGeom prst="rect">
            <a:avLst/>
          </a:prstGeom>
          <a:noFill/>
          <a:ln/>
        </p:spPr>
        <p:txBody>
          <a:bodyPr wrap="square" lIns="0" tIns="0" rIns="0" bIns="0" rtlCol="0" anchor="t"/>
          <a:lstStyle/>
          <a:p>
            <a:pPr marL="342900" indent="-342900" algn="l">
              <a:lnSpc>
                <a:spcPts val="2750"/>
              </a:lnSpc>
              <a:buSzPct val="100000"/>
              <a:buChar char="•"/>
            </a:pPr>
            <a:r>
              <a:rPr lang="en-US" sz="1700" b="1" dirty="0">
                <a:solidFill>
                  <a:srgbClr val="405449"/>
                </a:solidFill>
                <a:latin typeface="Nobile" pitchFamily="34" charset="0"/>
                <a:ea typeface="Nobile" pitchFamily="34" charset="-122"/>
                <a:cs typeface="Nobile" pitchFamily="34" charset="-120"/>
              </a:rPr>
              <a:t>Pattern:</a:t>
            </a:r>
            <a:r>
              <a:rPr lang="en-US" sz="1700" dirty="0">
                <a:solidFill>
                  <a:srgbClr val="405449"/>
                </a:solidFill>
                <a:latin typeface="Nobile" pitchFamily="34" charset="0"/>
                <a:ea typeface="Nobile" pitchFamily="34" charset="-122"/>
                <a:cs typeface="Nobile" pitchFamily="34" charset="-120"/>
              </a:rPr>
              <a:t> Oncology and surgical clinics frequently exhibit naturally high billing volumes due to the nature of their services.</a:t>
            </a:r>
            <a:endParaRPr lang="en-US" sz="1700" dirty="0"/>
          </a:p>
        </p:txBody>
      </p:sp>
      <p:sp>
        <p:nvSpPr>
          <p:cNvPr id="6" name="Text 4"/>
          <p:cNvSpPr/>
          <p:nvPr/>
        </p:nvSpPr>
        <p:spPr>
          <a:xfrm>
            <a:off x="771644" y="5782032"/>
            <a:ext cx="6274594" cy="1763911"/>
          </a:xfrm>
          <a:prstGeom prst="rect">
            <a:avLst/>
          </a:prstGeom>
          <a:noFill/>
          <a:ln/>
        </p:spPr>
        <p:txBody>
          <a:bodyPr wrap="square" lIns="0" tIns="0" rIns="0" bIns="0" rtlCol="0" anchor="t"/>
          <a:lstStyle/>
          <a:p>
            <a:pPr marL="342900" indent="-342900" algn="l">
              <a:lnSpc>
                <a:spcPts val="2750"/>
              </a:lnSpc>
              <a:buSzPct val="100000"/>
              <a:buChar char="•"/>
            </a:pPr>
            <a:r>
              <a:rPr lang="en-US" sz="1700" b="1" dirty="0">
                <a:solidFill>
                  <a:srgbClr val="405449"/>
                </a:solidFill>
                <a:latin typeface="Nobile" pitchFamily="34" charset="0"/>
                <a:ea typeface="Nobile" pitchFamily="34" charset="-122"/>
                <a:cs typeface="Nobile" pitchFamily="34" charset="-120"/>
              </a:rPr>
              <a:t>Why?</a:t>
            </a:r>
            <a:r>
              <a:rPr lang="en-US" sz="1700" dirty="0">
                <a:solidFill>
                  <a:srgbClr val="405449"/>
                </a:solidFill>
                <a:latin typeface="Nobile" pitchFamily="34" charset="0"/>
                <a:ea typeface="Nobile" pitchFamily="34" charset="-122"/>
                <a:cs typeface="Nobile" pitchFamily="34" charset="-120"/>
              </a:rPr>
              <a:t> These legitimate practices can mimic fraudulent patterns of "high billing per patient," requiring careful review to distinguish actual fraud from high-cost, necessary care. This includes clinics treating older or high-mortality patients.</a:t>
            </a:r>
            <a:endParaRPr lang="en-US" sz="1700" dirty="0"/>
          </a:p>
        </p:txBody>
      </p:sp>
      <p:sp>
        <p:nvSpPr>
          <p:cNvPr id="7" name="Text 5"/>
          <p:cNvSpPr/>
          <p:nvPr/>
        </p:nvSpPr>
        <p:spPr>
          <a:xfrm>
            <a:off x="7591782" y="3599378"/>
            <a:ext cx="6274594" cy="826770"/>
          </a:xfrm>
          <a:prstGeom prst="rect">
            <a:avLst/>
          </a:prstGeom>
          <a:noFill/>
          <a:ln/>
        </p:spPr>
        <p:txBody>
          <a:bodyPr wrap="square" lIns="0" tIns="0" rIns="0" bIns="0" rtlCol="0" anchor="t"/>
          <a:lstStyle/>
          <a:p>
            <a:pPr marL="0" indent="0" algn="l">
              <a:lnSpc>
                <a:spcPts val="3250"/>
              </a:lnSpc>
              <a:buNone/>
            </a:pPr>
            <a:r>
              <a:rPr lang="en-US" sz="2600" b="1" dirty="0">
                <a:solidFill>
                  <a:srgbClr val="4A644E"/>
                </a:solidFill>
                <a:latin typeface="Fraunces Extra Bold" pitchFamily="34" charset="0"/>
                <a:ea typeface="Fraunces Extra Bold" pitchFamily="34" charset="-122"/>
                <a:cs typeface="Fraunces Extra Bold" pitchFamily="34" charset="-120"/>
              </a:rPr>
              <a:t>False Negatives</a:t>
            </a:r>
            <a:r>
              <a:rPr lang="en-US" sz="2600" b="1" dirty="0">
                <a:solidFill>
                  <a:srgbClr val="3B4540"/>
                </a:solidFill>
                <a:latin typeface="Fraunces Extra Bold" pitchFamily="34" charset="0"/>
                <a:ea typeface="Fraunces Extra Bold" pitchFamily="34" charset="-122"/>
                <a:cs typeface="Fraunces Extra Bold" pitchFamily="34" charset="-120"/>
              </a:rPr>
              <a:t> (Actual fraud missed by the model)</a:t>
            </a:r>
            <a:endParaRPr lang="en-US" sz="2600" dirty="0"/>
          </a:p>
        </p:txBody>
      </p:sp>
      <p:sp>
        <p:nvSpPr>
          <p:cNvPr id="8" name="Text 6"/>
          <p:cNvSpPr/>
          <p:nvPr/>
        </p:nvSpPr>
        <p:spPr>
          <a:xfrm>
            <a:off x="7591782" y="4646533"/>
            <a:ext cx="6274594" cy="1058347"/>
          </a:xfrm>
          <a:prstGeom prst="rect">
            <a:avLst/>
          </a:prstGeom>
          <a:noFill/>
          <a:ln/>
        </p:spPr>
        <p:txBody>
          <a:bodyPr wrap="square" lIns="0" tIns="0" rIns="0" bIns="0" rtlCol="0" anchor="t"/>
          <a:lstStyle/>
          <a:p>
            <a:pPr marL="342900" indent="-342900" algn="l">
              <a:lnSpc>
                <a:spcPts val="2750"/>
              </a:lnSpc>
              <a:buSzPct val="100000"/>
              <a:buChar char="•"/>
            </a:pPr>
            <a:r>
              <a:rPr lang="en-US" sz="1700" b="1" dirty="0">
                <a:solidFill>
                  <a:srgbClr val="405449"/>
                </a:solidFill>
                <a:latin typeface="Nobile" pitchFamily="34" charset="0"/>
                <a:ea typeface="Nobile" pitchFamily="34" charset="-122"/>
                <a:cs typeface="Nobile" pitchFamily="34" charset="-120"/>
              </a:rPr>
              <a:t>Pattern:</a:t>
            </a:r>
            <a:r>
              <a:rPr lang="en-US" sz="1700" dirty="0">
                <a:solidFill>
                  <a:srgbClr val="405449"/>
                </a:solidFill>
                <a:latin typeface="Nobile" pitchFamily="34" charset="0"/>
                <a:ea typeface="Nobile" pitchFamily="34" charset="-122"/>
                <a:cs typeface="Nobile" pitchFamily="34" charset="-120"/>
              </a:rPr>
              <a:t> Providers engaging in subtle fraudulent activities, such as mild upcoding, where patterns blend with normal billing behaviors.</a:t>
            </a:r>
            <a:endParaRPr lang="en-US" sz="1700" dirty="0"/>
          </a:p>
        </p:txBody>
      </p:sp>
      <p:sp>
        <p:nvSpPr>
          <p:cNvPr id="9" name="Text 7"/>
          <p:cNvSpPr/>
          <p:nvPr/>
        </p:nvSpPr>
        <p:spPr>
          <a:xfrm>
            <a:off x="7591782" y="5782032"/>
            <a:ext cx="6274594" cy="1763911"/>
          </a:xfrm>
          <a:prstGeom prst="rect">
            <a:avLst/>
          </a:prstGeom>
          <a:noFill/>
          <a:ln/>
        </p:spPr>
        <p:txBody>
          <a:bodyPr wrap="square" lIns="0" tIns="0" rIns="0" bIns="0" rtlCol="0" anchor="t"/>
          <a:lstStyle/>
          <a:p>
            <a:pPr marL="342900" indent="-342900" algn="l">
              <a:lnSpc>
                <a:spcPts val="2750"/>
              </a:lnSpc>
              <a:buSzPct val="100000"/>
              <a:buChar char="•"/>
            </a:pPr>
            <a:r>
              <a:rPr lang="en-US" sz="1700" b="1" dirty="0">
                <a:solidFill>
                  <a:srgbClr val="405449"/>
                </a:solidFill>
                <a:latin typeface="Nobile" pitchFamily="34" charset="0"/>
                <a:ea typeface="Nobile" pitchFamily="34" charset="-122"/>
                <a:cs typeface="Nobile" pitchFamily="34" charset="-120"/>
              </a:rPr>
              <a:t>Why?</a:t>
            </a:r>
            <a:r>
              <a:rPr lang="en-US" sz="1700" dirty="0">
                <a:solidFill>
                  <a:srgbClr val="405449"/>
                </a:solidFill>
                <a:latin typeface="Nobile" pitchFamily="34" charset="0"/>
                <a:ea typeface="Nobile" pitchFamily="34" charset="-122"/>
                <a:cs typeface="Nobile" pitchFamily="34" charset="-120"/>
              </a:rPr>
              <a:t> These instances are harder to detect as they often involve providers with average billing that subtly manipulate codes. Missing detailed diagnosis codes in the initial data can further obscure these subtle fraudulent signals.</a:t>
            </a:r>
            <a:endParaRPr lang="en-US" sz="1700" dirty="0"/>
          </a:p>
        </p:txBody>
      </p:sp>
      <p:sp>
        <p:nvSpPr>
          <p:cNvPr id="10" name="Rectangle 9">
            <a:extLst>
              <a:ext uri="{FF2B5EF4-FFF2-40B4-BE49-F238E27FC236}">
                <a16:creationId xmlns:a16="http://schemas.microsoft.com/office/drawing/2014/main" id="{1161F409-C08B-D761-DB59-DA45A7571FED}"/>
              </a:ext>
            </a:extLst>
          </p:cNvPr>
          <p:cNvSpPr/>
          <p:nvPr/>
        </p:nvSpPr>
        <p:spPr>
          <a:xfrm>
            <a:off x="12660284" y="7672150"/>
            <a:ext cx="1895301" cy="47432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34578" y="341471"/>
            <a:ext cx="8692991" cy="387906"/>
          </a:xfrm>
          <a:prstGeom prst="rect">
            <a:avLst/>
          </a:prstGeom>
          <a:noFill/>
          <a:ln/>
        </p:spPr>
        <p:txBody>
          <a:bodyPr wrap="none" lIns="0" tIns="0" rIns="0" bIns="0" rtlCol="0" anchor="t"/>
          <a:lstStyle/>
          <a:p>
            <a:pPr marL="0" indent="0" algn="l">
              <a:lnSpc>
                <a:spcPts val="3050"/>
              </a:lnSpc>
              <a:buNone/>
            </a:pPr>
            <a:r>
              <a:rPr lang="en-US" sz="2400" b="1" dirty="0">
                <a:solidFill>
                  <a:srgbClr val="3B4540"/>
                </a:solidFill>
                <a:latin typeface="Fraunces Extra Bold" pitchFamily="34" charset="0"/>
                <a:ea typeface="Fraunces Extra Bold" pitchFamily="34" charset="-122"/>
                <a:cs typeface="Fraunces Extra Bold" pitchFamily="34" charset="-120"/>
              </a:rPr>
              <a:t>Business Impact: Driving Efficiency and Accountability</a:t>
            </a:r>
            <a:endParaRPr lang="en-US" sz="2400" dirty="0"/>
          </a:p>
        </p:txBody>
      </p:sp>
      <p:sp>
        <p:nvSpPr>
          <p:cNvPr id="3" name="Text 1"/>
          <p:cNvSpPr/>
          <p:nvPr/>
        </p:nvSpPr>
        <p:spPr>
          <a:xfrm>
            <a:off x="434578" y="977622"/>
            <a:ext cx="13761244" cy="198596"/>
          </a:xfrm>
          <a:prstGeom prst="rect">
            <a:avLst/>
          </a:prstGeom>
          <a:noFill/>
          <a:ln/>
        </p:spPr>
        <p:txBody>
          <a:bodyPr wrap="none" lIns="0" tIns="0" rIns="0" bIns="0" rtlCol="0" anchor="t"/>
          <a:lstStyle/>
          <a:p>
            <a:pPr marL="0" indent="0" algn="l">
              <a:lnSpc>
                <a:spcPts val="1550"/>
              </a:lnSpc>
              <a:buNone/>
            </a:pPr>
            <a:r>
              <a:rPr lang="en-US" sz="950" dirty="0">
                <a:solidFill>
                  <a:srgbClr val="405449"/>
                </a:solidFill>
                <a:latin typeface="Nobile" pitchFamily="34" charset="0"/>
                <a:ea typeface="Nobile" pitchFamily="34" charset="-122"/>
                <a:cs typeface="Nobile" pitchFamily="34" charset="-120"/>
              </a:rPr>
              <a:t>Our machine learning model delivers significant tangible benefits, transforming how healthcare fraud is detected and mitigated.</a:t>
            </a:r>
            <a:endParaRPr lang="en-US" sz="950" dirty="0"/>
          </a:p>
        </p:txBody>
      </p:sp>
      <p:sp>
        <p:nvSpPr>
          <p:cNvPr id="4" name="Shape 2"/>
          <p:cNvSpPr/>
          <p:nvPr/>
        </p:nvSpPr>
        <p:spPr>
          <a:xfrm>
            <a:off x="434578" y="1315879"/>
            <a:ext cx="6818590" cy="944285"/>
          </a:xfrm>
          <a:prstGeom prst="roundRect">
            <a:avLst>
              <a:gd name="adj" fmla="val 7747"/>
            </a:avLst>
          </a:prstGeom>
          <a:solidFill>
            <a:srgbClr val="FAFFFA"/>
          </a:solidFill>
          <a:ln w="15240">
            <a:solidFill>
              <a:srgbClr val="CED9CE"/>
            </a:solidFill>
            <a:prstDash val="solid"/>
          </a:ln>
        </p:spPr>
        <p:txBody>
          <a:bodyPr/>
          <a:lstStyle/>
          <a:p>
            <a:endParaRPr lang="en-US"/>
          </a:p>
        </p:txBody>
      </p:sp>
      <p:sp>
        <p:nvSpPr>
          <p:cNvPr id="5" name="Shape 3"/>
          <p:cNvSpPr/>
          <p:nvPr/>
        </p:nvSpPr>
        <p:spPr>
          <a:xfrm>
            <a:off x="419338" y="1315879"/>
            <a:ext cx="60960" cy="944285"/>
          </a:xfrm>
          <a:prstGeom prst="roundRect">
            <a:avLst>
              <a:gd name="adj" fmla="val 183331"/>
            </a:avLst>
          </a:prstGeom>
          <a:solidFill>
            <a:srgbClr val="438951"/>
          </a:solidFill>
          <a:ln/>
        </p:spPr>
        <p:txBody>
          <a:bodyPr/>
          <a:lstStyle/>
          <a:p>
            <a:endParaRPr lang="en-US"/>
          </a:p>
        </p:txBody>
      </p:sp>
      <p:sp>
        <p:nvSpPr>
          <p:cNvPr id="6" name="Text 4"/>
          <p:cNvSpPr/>
          <p:nvPr/>
        </p:nvSpPr>
        <p:spPr>
          <a:xfrm>
            <a:off x="619601" y="1455182"/>
            <a:ext cx="1552099" cy="194072"/>
          </a:xfrm>
          <a:prstGeom prst="rect">
            <a:avLst/>
          </a:prstGeom>
          <a:noFill/>
          <a:ln/>
        </p:spPr>
        <p:txBody>
          <a:bodyPr wrap="none" lIns="0" tIns="0" rIns="0" bIns="0" rtlCol="0" anchor="t"/>
          <a:lstStyle/>
          <a:p>
            <a:pPr marL="0" indent="0" algn="l">
              <a:lnSpc>
                <a:spcPts val="1500"/>
              </a:lnSpc>
              <a:buNone/>
            </a:pPr>
            <a:r>
              <a:rPr lang="en-US" sz="1200" b="1" dirty="0">
                <a:solidFill>
                  <a:srgbClr val="405449"/>
                </a:solidFill>
                <a:latin typeface="Fraunces Extra Bold" pitchFamily="34" charset="0"/>
                <a:ea typeface="Fraunces Extra Bold" pitchFamily="34" charset="-122"/>
                <a:cs typeface="Fraunces Extra Bold" pitchFamily="34" charset="-120"/>
              </a:rPr>
              <a:t>Targeted Auditing</a:t>
            </a:r>
            <a:endParaRPr lang="en-US" sz="1200" dirty="0"/>
          </a:p>
        </p:txBody>
      </p:sp>
      <p:sp>
        <p:nvSpPr>
          <p:cNvPr id="7" name="Text 5"/>
          <p:cNvSpPr/>
          <p:nvPr/>
        </p:nvSpPr>
        <p:spPr>
          <a:xfrm>
            <a:off x="619601" y="1723668"/>
            <a:ext cx="6494264" cy="397193"/>
          </a:xfrm>
          <a:prstGeom prst="rect">
            <a:avLst/>
          </a:prstGeom>
          <a:noFill/>
          <a:ln/>
        </p:spPr>
        <p:txBody>
          <a:bodyPr wrap="square" lIns="0" tIns="0" rIns="0" bIns="0" rtlCol="0" anchor="t"/>
          <a:lstStyle/>
          <a:p>
            <a:pPr marL="0" indent="0" algn="l">
              <a:lnSpc>
                <a:spcPts val="1550"/>
              </a:lnSpc>
              <a:buNone/>
            </a:pPr>
            <a:r>
              <a:rPr lang="en-US" sz="950" dirty="0">
                <a:solidFill>
                  <a:srgbClr val="405449"/>
                </a:solidFill>
                <a:latin typeface="Nobile" pitchFamily="34" charset="0"/>
                <a:ea typeface="Nobile" pitchFamily="34" charset="-122"/>
                <a:cs typeface="Nobile" pitchFamily="34" charset="-120"/>
              </a:rPr>
              <a:t>Auditors can efficiently prioritize the top 10% riskiest providers, focusing resources where they are most needed.</a:t>
            </a:r>
            <a:endParaRPr lang="en-US" sz="950" dirty="0"/>
          </a:p>
        </p:txBody>
      </p:sp>
      <p:sp>
        <p:nvSpPr>
          <p:cNvPr id="8" name="Shape 6"/>
          <p:cNvSpPr/>
          <p:nvPr/>
        </p:nvSpPr>
        <p:spPr>
          <a:xfrm>
            <a:off x="7377232" y="1315879"/>
            <a:ext cx="6818590" cy="944285"/>
          </a:xfrm>
          <a:prstGeom prst="roundRect">
            <a:avLst>
              <a:gd name="adj" fmla="val 7747"/>
            </a:avLst>
          </a:prstGeom>
          <a:solidFill>
            <a:srgbClr val="FAFFFA"/>
          </a:solidFill>
          <a:ln w="15240">
            <a:solidFill>
              <a:srgbClr val="CED9CE"/>
            </a:solidFill>
            <a:prstDash val="solid"/>
          </a:ln>
        </p:spPr>
        <p:txBody>
          <a:bodyPr/>
          <a:lstStyle/>
          <a:p>
            <a:endParaRPr lang="en-US"/>
          </a:p>
        </p:txBody>
      </p:sp>
      <p:sp>
        <p:nvSpPr>
          <p:cNvPr id="9" name="Shape 7"/>
          <p:cNvSpPr/>
          <p:nvPr/>
        </p:nvSpPr>
        <p:spPr>
          <a:xfrm>
            <a:off x="7361992" y="1315879"/>
            <a:ext cx="60960" cy="944285"/>
          </a:xfrm>
          <a:prstGeom prst="roundRect">
            <a:avLst>
              <a:gd name="adj" fmla="val 183331"/>
            </a:avLst>
          </a:prstGeom>
          <a:solidFill>
            <a:srgbClr val="438951"/>
          </a:solidFill>
          <a:ln/>
        </p:spPr>
        <p:txBody>
          <a:bodyPr/>
          <a:lstStyle/>
          <a:p>
            <a:endParaRPr lang="en-US"/>
          </a:p>
        </p:txBody>
      </p:sp>
      <p:sp>
        <p:nvSpPr>
          <p:cNvPr id="10" name="Text 8"/>
          <p:cNvSpPr/>
          <p:nvPr/>
        </p:nvSpPr>
        <p:spPr>
          <a:xfrm>
            <a:off x="7562255" y="1455182"/>
            <a:ext cx="1920954" cy="194072"/>
          </a:xfrm>
          <a:prstGeom prst="rect">
            <a:avLst/>
          </a:prstGeom>
          <a:noFill/>
          <a:ln/>
        </p:spPr>
        <p:txBody>
          <a:bodyPr wrap="none" lIns="0" tIns="0" rIns="0" bIns="0" rtlCol="0" anchor="t"/>
          <a:lstStyle/>
          <a:p>
            <a:pPr marL="0" indent="0" algn="l">
              <a:lnSpc>
                <a:spcPts val="1500"/>
              </a:lnSpc>
              <a:buNone/>
            </a:pPr>
            <a:r>
              <a:rPr lang="en-US" sz="1200" b="1" dirty="0">
                <a:solidFill>
                  <a:srgbClr val="405449"/>
                </a:solidFill>
                <a:latin typeface="Fraunces Extra Bold" pitchFamily="34" charset="0"/>
                <a:ea typeface="Fraunces Extra Bold" pitchFamily="34" charset="-122"/>
                <a:cs typeface="Fraunces Extra Bold" pitchFamily="34" charset="-120"/>
              </a:rPr>
              <a:t>Cost Savings &amp; Recovery</a:t>
            </a:r>
            <a:endParaRPr lang="en-US" sz="1200" dirty="0"/>
          </a:p>
        </p:txBody>
      </p:sp>
      <p:sp>
        <p:nvSpPr>
          <p:cNvPr id="11" name="Text 9"/>
          <p:cNvSpPr/>
          <p:nvPr/>
        </p:nvSpPr>
        <p:spPr>
          <a:xfrm>
            <a:off x="7562255" y="1723668"/>
            <a:ext cx="6494264" cy="198596"/>
          </a:xfrm>
          <a:prstGeom prst="rect">
            <a:avLst/>
          </a:prstGeom>
          <a:noFill/>
          <a:ln/>
        </p:spPr>
        <p:txBody>
          <a:bodyPr wrap="none" lIns="0" tIns="0" rIns="0" bIns="0" rtlCol="0" anchor="t"/>
          <a:lstStyle/>
          <a:p>
            <a:pPr marL="0" indent="0" algn="l">
              <a:lnSpc>
                <a:spcPts val="1550"/>
              </a:lnSpc>
              <a:buNone/>
            </a:pPr>
            <a:r>
              <a:rPr lang="en-US" sz="950" dirty="0">
                <a:solidFill>
                  <a:srgbClr val="405449"/>
                </a:solidFill>
                <a:latin typeface="Nobile" pitchFamily="34" charset="0"/>
                <a:ea typeface="Nobile" pitchFamily="34" charset="-122"/>
                <a:cs typeface="Nobile" pitchFamily="34" charset="-120"/>
              </a:rPr>
              <a:t>This targeted approach significantly reduces investigation costs while increasing the rate of fraud recovery.</a:t>
            </a:r>
            <a:endParaRPr lang="en-US" sz="950" dirty="0"/>
          </a:p>
        </p:txBody>
      </p:sp>
      <p:sp>
        <p:nvSpPr>
          <p:cNvPr id="12" name="Shape 10"/>
          <p:cNvSpPr/>
          <p:nvPr/>
        </p:nvSpPr>
        <p:spPr>
          <a:xfrm>
            <a:off x="434578" y="2384227"/>
            <a:ext cx="6818590" cy="944285"/>
          </a:xfrm>
          <a:prstGeom prst="roundRect">
            <a:avLst>
              <a:gd name="adj" fmla="val 7747"/>
            </a:avLst>
          </a:prstGeom>
          <a:solidFill>
            <a:srgbClr val="FAFFFA"/>
          </a:solidFill>
          <a:ln w="15240">
            <a:solidFill>
              <a:srgbClr val="CED9CE"/>
            </a:solidFill>
            <a:prstDash val="solid"/>
          </a:ln>
        </p:spPr>
        <p:txBody>
          <a:bodyPr/>
          <a:lstStyle/>
          <a:p>
            <a:endParaRPr lang="en-US"/>
          </a:p>
        </p:txBody>
      </p:sp>
      <p:sp>
        <p:nvSpPr>
          <p:cNvPr id="13" name="Shape 11"/>
          <p:cNvSpPr/>
          <p:nvPr/>
        </p:nvSpPr>
        <p:spPr>
          <a:xfrm>
            <a:off x="419338" y="2384227"/>
            <a:ext cx="60960" cy="944285"/>
          </a:xfrm>
          <a:prstGeom prst="roundRect">
            <a:avLst>
              <a:gd name="adj" fmla="val 183331"/>
            </a:avLst>
          </a:prstGeom>
          <a:solidFill>
            <a:srgbClr val="438951"/>
          </a:solidFill>
          <a:ln/>
        </p:spPr>
        <p:txBody>
          <a:bodyPr/>
          <a:lstStyle/>
          <a:p>
            <a:endParaRPr lang="en-US"/>
          </a:p>
        </p:txBody>
      </p:sp>
      <p:sp>
        <p:nvSpPr>
          <p:cNvPr id="14" name="Text 12"/>
          <p:cNvSpPr/>
          <p:nvPr/>
        </p:nvSpPr>
        <p:spPr>
          <a:xfrm>
            <a:off x="619601" y="2523530"/>
            <a:ext cx="1920478" cy="194072"/>
          </a:xfrm>
          <a:prstGeom prst="rect">
            <a:avLst/>
          </a:prstGeom>
          <a:noFill/>
          <a:ln/>
        </p:spPr>
        <p:txBody>
          <a:bodyPr wrap="none" lIns="0" tIns="0" rIns="0" bIns="0" rtlCol="0" anchor="t"/>
          <a:lstStyle/>
          <a:p>
            <a:pPr marL="0" indent="0" algn="l">
              <a:lnSpc>
                <a:spcPts val="1500"/>
              </a:lnSpc>
              <a:buNone/>
            </a:pPr>
            <a:r>
              <a:rPr lang="en-US" sz="1200" b="1" dirty="0">
                <a:solidFill>
                  <a:srgbClr val="405449"/>
                </a:solidFill>
                <a:latin typeface="Fraunces Extra Bold" pitchFamily="34" charset="0"/>
                <a:ea typeface="Fraunces Extra Bold" pitchFamily="34" charset="-122"/>
                <a:cs typeface="Fraunces Extra Bold" pitchFamily="34" charset="-120"/>
              </a:rPr>
              <a:t>Enhanced Transparency</a:t>
            </a:r>
            <a:endParaRPr lang="en-US" sz="1200" dirty="0"/>
          </a:p>
        </p:txBody>
      </p:sp>
      <p:sp>
        <p:nvSpPr>
          <p:cNvPr id="15" name="Text 13"/>
          <p:cNvSpPr/>
          <p:nvPr/>
        </p:nvSpPr>
        <p:spPr>
          <a:xfrm>
            <a:off x="619601" y="2792016"/>
            <a:ext cx="6494264" cy="198596"/>
          </a:xfrm>
          <a:prstGeom prst="rect">
            <a:avLst/>
          </a:prstGeom>
          <a:noFill/>
          <a:ln/>
        </p:spPr>
        <p:txBody>
          <a:bodyPr wrap="none" lIns="0" tIns="0" rIns="0" bIns="0" rtlCol="0" anchor="t"/>
          <a:lstStyle/>
          <a:p>
            <a:pPr marL="0" indent="0" algn="l">
              <a:lnSpc>
                <a:spcPts val="1550"/>
              </a:lnSpc>
              <a:buNone/>
            </a:pPr>
            <a:r>
              <a:rPr lang="en-US" sz="950" dirty="0">
                <a:solidFill>
                  <a:srgbClr val="405449"/>
                </a:solidFill>
                <a:latin typeface="Nobile" pitchFamily="34" charset="0"/>
                <a:ea typeface="Nobile" pitchFamily="34" charset="-122"/>
                <a:cs typeface="Nobile" pitchFamily="34" charset="-120"/>
              </a:rPr>
              <a:t>The model's explainability supports robust regulatory decisions and justifies audit actions.</a:t>
            </a:r>
            <a:endParaRPr lang="en-US" sz="950" dirty="0"/>
          </a:p>
        </p:txBody>
      </p:sp>
      <p:sp>
        <p:nvSpPr>
          <p:cNvPr id="16" name="Shape 14"/>
          <p:cNvSpPr/>
          <p:nvPr/>
        </p:nvSpPr>
        <p:spPr>
          <a:xfrm>
            <a:off x="7377232" y="2384227"/>
            <a:ext cx="6818590" cy="944285"/>
          </a:xfrm>
          <a:prstGeom prst="roundRect">
            <a:avLst>
              <a:gd name="adj" fmla="val 7747"/>
            </a:avLst>
          </a:prstGeom>
          <a:solidFill>
            <a:srgbClr val="FAFFFA"/>
          </a:solidFill>
          <a:ln w="15240">
            <a:solidFill>
              <a:srgbClr val="CED9CE"/>
            </a:solidFill>
            <a:prstDash val="solid"/>
          </a:ln>
        </p:spPr>
        <p:txBody>
          <a:bodyPr/>
          <a:lstStyle/>
          <a:p>
            <a:endParaRPr lang="en-US"/>
          </a:p>
        </p:txBody>
      </p:sp>
      <p:sp>
        <p:nvSpPr>
          <p:cNvPr id="17" name="Shape 15"/>
          <p:cNvSpPr/>
          <p:nvPr/>
        </p:nvSpPr>
        <p:spPr>
          <a:xfrm>
            <a:off x="7361992" y="2384227"/>
            <a:ext cx="60960" cy="944285"/>
          </a:xfrm>
          <a:prstGeom prst="roundRect">
            <a:avLst>
              <a:gd name="adj" fmla="val 183331"/>
            </a:avLst>
          </a:prstGeom>
          <a:solidFill>
            <a:srgbClr val="438951"/>
          </a:solidFill>
          <a:ln/>
        </p:spPr>
        <p:txBody>
          <a:bodyPr/>
          <a:lstStyle/>
          <a:p>
            <a:endParaRPr lang="en-US"/>
          </a:p>
        </p:txBody>
      </p:sp>
      <p:sp>
        <p:nvSpPr>
          <p:cNvPr id="18" name="Text 16"/>
          <p:cNvSpPr/>
          <p:nvPr/>
        </p:nvSpPr>
        <p:spPr>
          <a:xfrm>
            <a:off x="7562255" y="2523530"/>
            <a:ext cx="1862733" cy="194072"/>
          </a:xfrm>
          <a:prstGeom prst="rect">
            <a:avLst/>
          </a:prstGeom>
          <a:noFill/>
          <a:ln/>
        </p:spPr>
        <p:txBody>
          <a:bodyPr wrap="none" lIns="0" tIns="0" rIns="0" bIns="0" rtlCol="0" anchor="t"/>
          <a:lstStyle/>
          <a:p>
            <a:pPr marL="0" indent="0" algn="l">
              <a:lnSpc>
                <a:spcPts val="1500"/>
              </a:lnSpc>
              <a:buNone/>
            </a:pPr>
            <a:r>
              <a:rPr lang="en-US" sz="1200" b="1" dirty="0">
                <a:solidFill>
                  <a:srgbClr val="405449"/>
                </a:solidFill>
                <a:latin typeface="Fraunces Extra Bold" pitchFamily="34" charset="0"/>
                <a:ea typeface="Fraunces Extra Bold" pitchFamily="34" charset="-122"/>
                <a:cs typeface="Fraunces Extra Bold" pitchFamily="34" charset="-120"/>
              </a:rPr>
              <a:t>Proactive Policy Design</a:t>
            </a:r>
            <a:endParaRPr lang="en-US" sz="1200" dirty="0"/>
          </a:p>
        </p:txBody>
      </p:sp>
      <p:sp>
        <p:nvSpPr>
          <p:cNvPr id="19" name="Text 17"/>
          <p:cNvSpPr/>
          <p:nvPr/>
        </p:nvSpPr>
        <p:spPr>
          <a:xfrm>
            <a:off x="7562255" y="2792016"/>
            <a:ext cx="6494264" cy="397193"/>
          </a:xfrm>
          <a:prstGeom prst="rect">
            <a:avLst/>
          </a:prstGeom>
          <a:noFill/>
          <a:ln/>
        </p:spPr>
        <p:txBody>
          <a:bodyPr wrap="square" lIns="0" tIns="0" rIns="0" bIns="0" rtlCol="0" anchor="t"/>
          <a:lstStyle/>
          <a:p>
            <a:pPr marL="0" indent="0" algn="l">
              <a:lnSpc>
                <a:spcPts val="1550"/>
              </a:lnSpc>
              <a:buNone/>
            </a:pPr>
            <a:r>
              <a:rPr lang="en-US" sz="950" dirty="0">
                <a:solidFill>
                  <a:srgbClr val="405449"/>
                </a:solidFill>
                <a:latin typeface="Nobile" pitchFamily="34" charset="0"/>
                <a:ea typeface="Nobile" pitchFamily="34" charset="-122"/>
                <a:cs typeface="Nobile" pitchFamily="34" charset="-120"/>
              </a:rPr>
              <a:t>Insights from the model aid in designing effective policies to reduce systemic fraud across the healthcare system.</a:t>
            </a:r>
            <a:endParaRPr lang="en-US" sz="950" dirty="0"/>
          </a:p>
        </p:txBody>
      </p:sp>
      <p:sp>
        <p:nvSpPr>
          <p:cNvPr id="20" name="Text 18"/>
          <p:cNvSpPr/>
          <p:nvPr/>
        </p:nvSpPr>
        <p:spPr>
          <a:xfrm>
            <a:off x="434578" y="3468172"/>
            <a:ext cx="13761244" cy="198596"/>
          </a:xfrm>
          <a:prstGeom prst="rect">
            <a:avLst/>
          </a:prstGeom>
          <a:noFill/>
          <a:ln/>
        </p:spPr>
        <p:txBody>
          <a:bodyPr wrap="none" lIns="0" tIns="0" rIns="0" bIns="0" rtlCol="0" anchor="t"/>
          <a:lstStyle/>
          <a:p>
            <a:pPr marL="0" indent="0" algn="l">
              <a:lnSpc>
                <a:spcPts val="1550"/>
              </a:lnSpc>
              <a:buNone/>
            </a:pPr>
            <a:r>
              <a:rPr lang="en-US" sz="950" dirty="0">
                <a:solidFill>
                  <a:srgbClr val="405449"/>
                </a:solidFill>
                <a:latin typeface="Nobile" pitchFamily="34" charset="0"/>
                <a:ea typeface="Nobile" pitchFamily="34" charset="-122"/>
                <a:cs typeface="Nobile" pitchFamily="34" charset="-120"/>
              </a:rPr>
              <a:t>This streamlined process allows for a more effective and data-driven approach to combating healthcare fraud.</a:t>
            </a:r>
            <a:endParaRPr lang="en-US" sz="950" dirty="0"/>
          </a:p>
        </p:txBody>
      </p:sp>
      <p:pic>
        <p:nvPicPr>
          <p:cNvPr id="21" name="Image 0" descr="preencoded.png"/>
          <p:cNvPicPr>
            <a:picLocks noChangeAspect="1"/>
          </p:cNvPicPr>
          <p:nvPr/>
        </p:nvPicPr>
        <p:blipFill>
          <a:blip r:embed="rId3"/>
          <a:stretch>
            <a:fillRect/>
          </a:stretch>
        </p:blipFill>
        <p:spPr>
          <a:xfrm>
            <a:off x="2693194" y="3806428"/>
            <a:ext cx="9244013" cy="5394603"/>
          </a:xfrm>
          <a:prstGeom prst="rect">
            <a:avLst/>
          </a:prstGeom>
        </p:spPr>
      </p:pic>
      <p:sp>
        <p:nvSpPr>
          <p:cNvPr id="22" name="Text 19"/>
          <p:cNvSpPr/>
          <p:nvPr/>
        </p:nvSpPr>
        <p:spPr>
          <a:xfrm>
            <a:off x="3456251" y="6257148"/>
            <a:ext cx="2353153" cy="387032"/>
          </a:xfrm>
          <a:prstGeom prst="rect">
            <a:avLst/>
          </a:prstGeom>
          <a:noFill/>
          <a:ln/>
        </p:spPr>
        <p:txBody>
          <a:bodyPr wrap="none" lIns="0" tIns="0" rIns="0" bIns="0" rtlCol="0" anchor="t"/>
          <a:lstStyle/>
          <a:p>
            <a:pPr marL="0" indent="0" algn="ctr">
              <a:lnSpc>
                <a:spcPts val="1650"/>
              </a:lnSpc>
              <a:buNone/>
            </a:pPr>
            <a:r>
              <a:rPr lang="en-US" sz="1350" b="1" dirty="0">
                <a:solidFill>
                  <a:srgbClr val="405449"/>
                </a:solidFill>
                <a:latin typeface="Fraunces Extra Bold" pitchFamily="34" charset="0"/>
                <a:ea typeface="Fraunces Extra Bold" pitchFamily="34" charset="-122"/>
                <a:cs typeface="Fraunces Extra Bold" pitchFamily="34" charset="-120"/>
              </a:rPr>
              <a:t>All Providers</a:t>
            </a:r>
            <a:endParaRPr lang="en-US" sz="1350" dirty="0"/>
          </a:p>
        </p:txBody>
      </p:sp>
      <p:sp>
        <p:nvSpPr>
          <p:cNvPr id="23" name="Text 20"/>
          <p:cNvSpPr/>
          <p:nvPr/>
        </p:nvSpPr>
        <p:spPr>
          <a:xfrm>
            <a:off x="3456251" y="6754269"/>
            <a:ext cx="2353153" cy="309625"/>
          </a:xfrm>
          <a:prstGeom prst="rect">
            <a:avLst/>
          </a:prstGeom>
          <a:noFill/>
          <a:ln/>
        </p:spPr>
        <p:txBody>
          <a:bodyPr wrap="none" lIns="0" tIns="0" rIns="0" bIns="0" rtlCol="0" anchor="t"/>
          <a:lstStyle/>
          <a:p>
            <a:pPr marL="0" indent="0" algn="ctr">
              <a:lnSpc>
                <a:spcPts val="1350"/>
              </a:lnSpc>
              <a:buNone/>
            </a:pPr>
            <a:r>
              <a:rPr lang="en-US" sz="1050" dirty="0">
                <a:solidFill>
                  <a:srgbClr val="405449"/>
                </a:solidFill>
                <a:latin typeface="Nobile" pitchFamily="34" charset="0"/>
                <a:ea typeface="Nobile" pitchFamily="34" charset="-122"/>
                <a:cs typeface="Nobile" pitchFamily="34" charset="-120"/>
              </a:rPr>
              <a:t>100,000 providers</a:t>
            </a:r>
            <a:endParaRPr lang="en-US" sz="1050" dirty="0"/>
          </a:p>
        </p:txBody>
      </p:sp>
      <p:sp>
        <p:nvSpPr>
          <p:cNvPr id="24" name="Text 21"/>
          <p:cNvSpPr/>
          <p:nvPr/>
        </p:nvSpPr>
        <p:spPr>
          <a:xfrm>
            <a:off x="6524982" y="6642460"/>
            <a:ext cx="2353152" cy="774063"/>
          </a:xfrm>
          <a:prstGeom prst="rect">
            <a:avLst/>
          </a:prstGeom>
          <a:noFill/>
          <a:ln/>
        </p:spPr>
        <p:txBody>
          <a:bodyPr wrap="square" lIns="0" tIns="0" rIns="0" bIns="0" rtlCol="0" anchor="t"/>
          <a:lstStyle/>
          <a:p>
            <a:pPr marL="0" indent="0" algn="ctr">
              <a:lnSpc>
                <a:spcPts val="1650"/>
              </a:lnSpc>
              <a:buNone/>
            </a:pPr>
            <a:r>
              <a:rPr lang="en-US" sz="1350" b="1" dirty="0">
                <a:solidFill>
                  <a:srgbClr val="405449"/>
                </a:solidFill>
                <a:latin typeface="Fraunces Extra Bold" pitchFamily="34" charset="0"/>
                <a:ea typeface="Fraunces Extra Bold" pitchFamily="34" charset="-122"/>
                <a:cs typeface="Fraunces Extra Bold" pitchFamily="34" charset="-120"/>
              </a:rPr>
              <a:t>High-Risk Providers</a:t>
            </a:r>
            <a:endParaRPr lang="en-US" sz="1350" dirty="0"/>
          </a:p>
        </p:txBody>
      </p:sp>
      <p:sp>
        <p:nvSpPr>
          <p:cNvPr id="25" name="Text 22"/>
          <p:cNvSpPr/>
          <p:nvPr/>
        </p:nvSpPr>
        <p:spPr>
          <a:xfrm>
            <a:off x="6524982" y="7526612"/>
            <a:ext cx="2353152" cy="309625"/>
          </a:xfrm>
          <a:prstGeom prst="rect">
            <a:avLst/>
          </a:prstGeom>
          <a:noFill/>
          <a:ln/>
        </p:spPr>
        <p:txBody>
          <a:bodyPr wrap="none" lIns="0" tIns="0" rIns="0" bIns="0" rtlCol="0" anchor="t"/>
          <a:lstStyle/>
          <a:p>
            <a:pPr marL="0" indent="0" algn="ctr">
              <a:lnSpc>
                <a:spcPts val="1350"/>
              </a:lnSpc>
              <a:buNone/>
            </a:pPr>
            <a:r>
              <a:rPr lang="en-US" sz="1050" dirty="0">
                <a:solidFill>
                  <a:srgbClr val="405449"/>
                </a:solidFill>
                <a:latin typeface="Nobile" pitchFamily="34" charset="0"/>
                <a:ea typeface="Nobile" pitchFamily="34" charset="-122"/>
                <a:cs typeface="Nobile" pitchFamily="34" charset="-120"/>
              </a:rPr>
              <a:t>10,000 flagged</a:t>
            </a:r>
            <a:endParaRPr lang="en-US" sz="1050" dirty="0"/>
          </a:p>
        </p:txBody>
      </p:sp>
      <p:sp>
        <p:nvSpPr>
          <p:cNvPr id="26" name="Text 23"/>
          <p:cNvSpPr/>
          <p:nvPr/>
        </p:nvSpPr>
        <p:spPr>
          <a:xfrm>
            <a:off x="9125835" y="7110338"/>
            <a:ext cx="2353152" cy="387032"/>
          </a:xfrm>
          <a:prstGeom prst="rect">
            <a:avLst/>
          </a:prstGeom>
          <a:noFill/>
          <a:ln/>
        </p:spPr>
        <p:txBody>
          <a:bodyPr wrap="none" lIns="0" tIns="0" rIns="0" bIns="0" rtlCol="0" anchor="t"/>
          <a:lstStyle/>
          <a:p>
            <a:pPr marL="0" indent="0" algn="ctr">
              <a:lnSpc>
                <a:spcPts val="1650"/>
              </a:lnSpc>
              <a:buNone/>
            </a:pPr>
            <a:r>
              <a:rPr lang="en-US" sz="1350" b="1" dirty="0">
                <a:solidFill>
                  <a:srgbClr val="405449"/>
                </a:solidFill>
                <a:latin typeface="Fraunces Extra Bold" pitchFamily="34" charset="0"/>
                <a:ea typeface="Fraunces Extra Bold" pitchFamily="34" charset="-122"/>
                <a:cs typeface="Fraunces Extra Bold" pitchFamily="34" charset="-120"/>
              </a:rPr>
              <a:t>Investigations</a:t>
            </a:r>
            <a:endParaRPr lang="en-US" sz="1350" dirty="0"/>
          </a:p>
        </p:txBody>
      </p:sp>
      <p:sp>
        <p:nvSpPr>
          <p:cNvPr id="27" name="Text 24"/>
          <p:cNvSpPr/>
          <p:nvPr/>
        </p:nvSpPr>
        <p:spPr>
          <a:xfrm>
            <a:off x="9125835" y="7607458"/>
            <a:ext cx="2353152" cy="309625"/>
          </a:xfrm>
          <a:prstGeom prst="rect">
            <a:avLst/>
          </a:prstGeom>
          <a:noFill/>
          <a:ln/>
        </p:spPr>
        <p:txBody>
          <a:bodyPr wrap="none" lIns="0" tIns="0" rIns="0" bIns="0" rtlCol="0" anchor="t"/>
          <a:lstStyle/>
          <a:p>
            <a:pPr marL="0" indent="0" algn="ctr">
              <a:lnSpc>
                <a:spcPts val="1350"/>
              </a:lnSpc>
              <a:buNone/>
            </a:pPr>
            <a:r>
              <a:rPr lang="en-US" sz="1050" dirty="0">
                <a:solidFill>
                  <a:srgbClr val="405449"/>
                </a:solidFill>
                <a:latin typeface="Nobile" pitchFamily="34" charset="0"/>
                <a:ea typeface="Nobile" pitchFamily="34" charset="-122"/>
                <a:cs typeface="Nobile" pitchFamily="34" charset="-120"/>
              </a:rPr>
              <a:t>1,000 selected</a:t>
            </a:r>
            <a:endParaRPr lang="en-US" sz="1050" dirty="0"/>
          </a:p>
        </p:txBody>
      </p:sp>
      <p:sp>
        <p:nvSpPr>
          <p:cNvPr id="28" name="Rectangle 27">
            <a:extLst>
              <a:ext uri="{FF2B5EF4-FFF2-40B4-BE49-F238E27FC236}">
                <a16:creationId xmlns:a16="http://schemas.microsoft.com/office/drawing/2014/main" id="{3F5B8419-0FC1-8523-2F49-EC3D87BEFF78}"/>
              </a:ext>
            </a:extLst>
          </p:cNvPr>
          <p:cNvSpPr/>
          <p:nvPr/>
        </p:nvSpPr>
        <p:spPr>
          <a:xfrm>
            <a:off x="12660284" y="7672150"/>
            <a:ext cx="1895301" cy="47432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35330" y="583406"/>
            <a:ext cx="13159740" cy="1313259"/>
          </a:xfrm>
          <a:prstGeom prst="rect">
            <a:avLst/>
          </a:prstGeom>
          <a:noFill/>
          <a:ln/>
        </p:spPr>
        <p:txBody>
          <a:bodyPr wrap="square" lIns="0" tIns="0" rIns="0" bIns="0" rtlCol="0" anchor="t"/>
          <a:lstStyle/>
          <a:p>
            <a:pPr marL="0" indent="0" algn="l">
              <a:lnSpc>
                <a:spcPts val="5150"/>
              </a:lnSpc>
              <a:buNone/>
            </a:pPr>
            <a:r>
              <a:rPr lang="en-US" sz="4100" b="1" dirty="0">
                <a:solidFill>
                  <a:srgbClr val="3B4540"/>
                </a:solidFill>
                <a:latin typeface="Fraunces Extra Bold" pitchFamily="34" charset="0"/>
                <a:ea typeface="Fraunces Extra Bold" pitchFamily="34" charset="-122"/>
                <a:cs typeface="Fraunces Extra Bold" pitchFamily="34" charset="-120"/>
              </a:rPr>
              <a:t>Future Work: Enhancing Fraud Detection Capabilities</a:t>
            </a:r>
            <a:endParaRPr lang="en-US" sz="4100" dirty="0"/>
          </a:p>
        </p:txBody>
      </p:sp>
      <p:sp>
        <p:nvSpPr>
          <p:cNvPr id="3" name="Text 1"/>
          <p:cNvSpPr/>
          <p:nvPr/>
        </p:nvSpPr>
        <p:spPr>
          <a:xfrm>
            <a:off x="735330" y="2316837"/>
            <a:ext cx="13159740" cy="672465"/>
          </a:xfrm>
          <a:prstGeom prst="rect">
            <a:avLst/>
          </a:prstGeom>
          <a:noFill/>
          <a:ln/>
        </p:spPr>
        <p:txBody>
          <a:bodyPr wrap="square" lIns="0" tIns="0" rIns="0" bIns="0" rtlCol="0" anchor="t"/>
          <a:lstStyle/>
          <a:p>
            <a:pPr marL="0" indent="0" algn="l">
              <a:lnSpc>
                <a:spcPts val="2600"/>
              </a:lnSpc>
              <a:buNone/>
            </a:pPr>
            <a:r>
              <a:rPr lang="en-US" sz="1650" dirty="0">
                <a:solidFill>
                  <a:srgbClr val="405449"/>
                </a:solidFill>
                <a:latin typeface="Nobile" pitchFamily="34" charset="0"/>
                <a:ea typeface="Nobile" pitchFamily="34" charset="-122"/>
                <a:cs typeface="Nobile" pitchFamily="34" charset="-120"/>
              </a:rPr>
              <a:t>To further bolster our fraud detection system, we've identified several key areas for future development and refinement, focusing on deeper data integration and proactive monitoring.</a:t>
            </a:r>
            <a:endParaRPr lang="en-US" sz="16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5330" y="3251835"/>
            <a:ext cx="210026" cy="210026"/>
          </a:xfrm>
          <a:prstGeom prst="rect">
            <a:avLst/>
          </a:prstGeom>
        </p:spPr>
      </p:pic>
      <p:sp>
        <p:nvSpPr>
          <p:cNvPr id="5" name="Shape 2"/>
          <p:cNvSpPr/>
          <p:nvPr/>
        </p:nvSpPr>
        <p:spPr>
          <a:xfrm>
            <a:off x="735330" y="3559731"/>
            <a:ext cx="6474857" cy="22860"/>
          </a:xfrm>
          <a:prstGeom prst="rect">
            <a:avLst/>
          </a:prstGeom>
          <a:solidFill>
            <a:srgbClr val="438951"/>
          </a:solidFill>
          <a:ln/>
        </p:spPr>
        <p:txBody>
          <a:bodyPr/>
          <a:lstStyle/>
          <a:p>
            <a:endParaRPr lang="en-US"/>
          </a:p>
        </p:txBody>
      </p:sp>
      <p:sp>
        <p:nvSpPr>
          <p:cNvPr id="6" name="Text 3"/>
          <p:cNvSpPr/>
          <p:nvPr/>
        </p:nvSpPr>
        <p:spPr>
          <a:xfrm>
            <a:off x="735330" y="3710464"/>
            <a:ext cx="3576280" cy="328255"/>
          </a:xfrm>
          <a:prstGeom prst="rect">
            <a:avLst/>
          </a:prstGeom>
          <a:noFill/>
          <a:ln/>
        </p:spPr>
        <p:txBody>
          <a:bodyPr wrap="none" lIns="0" tIns="0" rIns="0" bIns="0" rtlCol="0" anchor="t"/>
          <a:lstStyle/>
          <a:p>
            <a:pPr marL="0" indent="0" algn="l">
              <a:lnSpc>
                <a:spcPts val="2550"/>
              </a:lnSpc>
              <a:buNone/>
            </a:pPr>
            <a:r>
              <a:rPr lang="en-US" sz="2050" b="1" dirty="0">
                <a:solidFill>
                  <a:srgbClr val="405449"/>
                </a:solidFill>
                <a:latin typeface="Fraunces Extra Bold" pitchFamily="34" charset="0"/>
                <a:ea typeface="Fraunces Extra Bold" pitchFamily="34" charset="-122"/>
                <a:cs typeface="Fraunces Extra Bold" pitchFamily="34" charset="-120"/>
              </a:rPr>
              <a:t>Leverage Richer Code Data</a:t>
            </a:r>
            <a:endParaRPr lang="en-US" sz="2050" dirty="0"/>
          </a:p>
        </p:txBody>
      </p:sp>
      <p:sp>
        <p:nvSpPr>
          <p:cNvPr id="7" name="Text 4"/>
          <p:cNvSpPr/>
          <p:nvPr/>
        </p:nvSpPr>
        <p:spPr>
          <a:xfrm>
            <a:off x="735330" y="4164687"/>
            <a:ext cx="6474857" cy="1008698"/>
          </a:xfrm>
          <a:prstGeom prst="rect">
            <a:avLst/>
          </a:prstGeom>
          <a:noFill/>
          <a:ln/>
        </p:spPr>
        <p:txBody>
          <a:bodyPr wrap="square" lIns="0" tIns="0" rIns="0" bIns="0" rtlCol="0" anchor="t"/>
          <a:lstStyle/>
          <a:p>
            <a:pPr marL="0" indent="0" algn="l">
              <a:lnSpc>
                <a:spcPts val="2600"/>
              </a:lnSpc>
              <a:buNone/>
            </a:pPr>
            <a:r>
              <a:rPr lang="en-US" sz="1650" dirty="0">
                <a:solidFill>
                  <a:srgbClr val="405449"/>
                </a:solidFill>
                <a:latin typeface="Nobile" pitchFamily="34" charset="0"/>
                <a:ea typeface="Nobile" pitchFamily="34" charset="-122"/>
                <a:cs typeface="Nobile" pitchFamily="34" charset="-120"/>
              </a:rPr>
              <a:t>Integrate detailed diagnosis and procedure codes to uncover more granular fraudulent patterns, especially for subtle upcoding and misrepresentation.</a:t>
            </a:r>
            <a:endParaRPr lang="en-US" sz="1650" dirty="0"/>
          </a:p>
        </p:txBody>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20213" y="3251835"/>
            <a:ext cx="210026" cy="210026"/>
          </a:xfrm>
          <a:prstGeom prst="rect">
            <a:avLst/>
          </a:prstGeom>
        </p:spPr>
      </p:pic>
      <p:sp>
        <p:nvSpPr>
          <p:cNvPr id="9" name="Shape 5"/>
          <p:cNvSpPr/>
          <p:nvPr/>
        </p:nvSpPr>
        <p:spPr>
          <a:xfrm>
            <a:off x="7420213" y="3559731"/>
            <a:ext cx="6474857" cy="22860"/>
          </a:xfrm>
          <a:prstGeom prst="rect">
            <a:avLst/>
          </a:prstGeom>
          <a:solidFill>
            <a:srgbClr val="438951"/>
          </a:solidFill>
          <a:ln/>
        </p:spPr>
        <p:txBody>
          <a:bodyPr/>
          <a:lstStyle/>
          <a:p>
            <a:endParaRPr lang="en-US"/>
          </a:p>
        </p:txBody>
      </p:sp>
      <p:sp>
        <p:nvSpPr>
          <p:cNvPr id="10" name="Text 6"/>
          <p:cNvSpPr/>
          <p:nvPr/>
        </p:nvSpPr>
        <p:spPr>
          <a:xfrm>
            <a:off x="7420213" y="3710464"/>
            <a:ext cx="4472821" cy="328255"/>
          </a:xfrm>
          <a:prstGeom prst="rect">
            <a:avLst/>
          </a:prstGeom>
          <a:noFill/>
          <a:ln/>
        </p:spPr>
        <p:txBody>
          <a:bodyPr wrap="none" lIns="0" tIns="0" rIns="0" bIns="0" rtlCol="0" anchor="t"/>
          <a:lstStyle/>
          <a:p>
            <a:pPr marL="0" indent="0" algn="l">
              <a:lnSpc>
                <a:spcPts val="2550"/>
              </a:lnSpc>
              <a:buNone/>
            </a:pPr>
            <a:r>
              <a:rPr lang="en-US" sz="2050" b="1" dirty="0">
                <a:solidFill>
                  <a:srgbClr val="405449"/>
                </a:solidFill>
                <a:latin typeface="Fraunces Extra Bold" pitchFamily="34" charset="0"/>
                <a:ea typeface="Fraunces Extra Bold" pitchFamily="34" charset="-122"/>
                <a:cs typeface="Fraunces Extra Bold" pitchFamily="34" charset="-120"/>
              </a:rPr>
              <a:t>Incorporate Time-Series Analysis</a:t>
            </a:r>
            <a:endParaRPr lang="en-US" sz="2050" dirty="0"/>
          </a:p>
        </p:txBody>
      </p:sp>
      <p:sp>
        <p:nvSpPr>
          <p:cNvPr id="11" name="Text 7"/>
          <p:cNvSpPr/>
          <p:nvPr/>
        </p:nvSpPr>
        <p:spPr>
          <a:xfrm>
            <a:off x="7420213" y="4164687"/>
            <a:ext cx="6474857" cy="1008698"/>
          </a:xfrm>
          <a:prstGeom prst="rect">
            <a:avLst/>
          </a:prstGeom>
          <a:noFill/>
          <a:ln/>
        </p:spPr>
        <p:txBody>
          <a:bodyPr wrap="square" lIns="0" tIns="0" rIns="0" bIns="0" rtlCol="0" anchor="t"/>
          <a:lstStyle/>
          <a:p>
            <a:pPr marL="0" indent="0" algn="l">
              <a:lnSpc>
                <a:spcPts val="2600"/>
              </a:lnSpc>
              <a:buNone/>
            </a:pPr>
            <a:r>
              <a:rPr lang="en-US" sz="1650" dirty="0">
                <a:solidFill>
                  <a:srgbClr val="405449"/>
                </a:solidFill>
                <a:latin typeface="Nobile" pitchFamily="34" charset="0"/>
                <a:ea typeface="Nobile" pitchFamily="34" charset="-122"/>
                <a:cs typeface="Nobile" pitchFamily="34" charset="-120"/>
              </a:rPr>
              <a:t>Develop models to detect anomalous temporal patterns, such as sudden and unexplained spikes in billing activity or claim frequency, indicating emerging fraud schemes.</a:t>
            </a:r>
            <a:endParaRPr lang="en-US" sz="1650" dirty="0"/>
          </a:p>
        </p:txBody>
      </p:sp>
      <p:pic>
        <p:nvPicPr>
          <p:cNvPr id="1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5330" y="5567124"/>
            <a:ext cx="210026" cy="210026"/>
          </a:xfrm>
          <a:prstGeom prst="rect">
            <a:avLst/>
          </a:prstGeom>
        </p:spPr>
      </p:pic>
      <p:sp>
        <p:nvSpPr>
          <p:cNvPr id="13" name="Shape 8"/>
          <p:cNvSpPr/>
          <p:nvPr/>
        </p:nvSpPr>
        <p:spPr>
          <a:xfrm>
            <a:off x="735330" y="5875020"/>
            <a:ext cx="6474857" cy="22860"/>
          </a:xfrm>
          <a:prstGeom prst="rect">
            <a:avLst/>
          </a:prstGeom>
          <a:solidFill>
            <a:srgbClr val="438951"/>
          </a:solidFill>
          <a:ln/>
        </p:spPr>
        <p:txBody>
          <a:bodyPr/>
          <a:lstStyle/>
          <a:p>
            <a:endParaRPr lang="en-US"/>
          </a:p>
        </p:txBody>
      </p:sp>
      <p:sp>
        <p:nvSpPr>
          <p:cNvPr id="14" name="Text 9"/>
          <p:cNvSpPr/>
          <p:nvPr/>
        </p:nvSpPr>
        <p:spPr>
          <a:xfrm>
            <a:off x="735330" y="6025753"/>
            <a:ext cx="4759404" cy="328255"/>
          </a:xfrm>
          <a:prstGeom prst="rect">
            <a:avLst/>
          </a:prstGeom>
          <a:noFill/>
          <a:ln/>
        </p:spPr>
        <p:txBody>
          <a:bodyPr wrap="none" lIns="0" tIns="0" rIns="0" bIns="0" rtlCol="0" anchor="t"/>
          <a:lstStyle/>
          <a:p>
            <a:pPr marL="0" indent="0" algn="l">
              <a:lnSpc>
                <a:spcPts val="2550"/>
              </a:lnSpc>
              <a:buNone/>
            </a:pPr>
            <a:r>
              <a:rPr lang="en-US" sz="2050" b="1" dirty="0">
                <a:solidFill>
                  <a:srgbClr val="405449"/>
                </a:solidFill>
                <a:latin typeface="Fraunces Extra Bold" pitchFamily="34" charset="0"/>
                <a:ea typeface="Fraunces Extra Bold" pitchFamily="34" charset="-122"/>
                <a:cs typeface="Fraunces Extra Bold" pitchFamily="34" charset="-120"/>
              </a:rPr>
              <a:t>Optimize Cost-Sensitive Thresholds</a:t>
            </a:r>
            <a:endParaRPr lang="en-US" sz="2050" dirty="0"/>
          </a:p>
        </p:txBody>
      </p:sp>
      <p:sp>
        <p:nvSpPr>
          <p:cNvPr id="15" name="Text 10"/>
          <p:cNvSpPr/>
          <p:nvPr/>
        </p:nvSpPr>
        <p:spPr>
          <a:xfrm>
            <a:off x="735330" y="6479977"/>
            <a:ext cx="6474857" cy="1008698"/>
          </a:xfrm>
          <a:prstGeom prst="rect">
            <a:avLst/>
          </a:prstGeom>
          <a:noFill/>
          <a:ln/>
        </p:spPr>
        <p:txBody>
          <a:bodyPr wrap="square" lIns="0" tIns="0" rIns="0" bIns="0" rtlCol="0" anchor="t"/>
          <a:lstStyle/>
          <a:p>
            <a:pPr marL="0" indent="0" algn="l">
              <a:lnSpc>
                <a:spcPts val="2600"/>
              </a:lnSpc>
              <a:buNone/>
            </a:pPr>
            <a:r>
              <a:rPr lang="en-US" sz="1650" dirty="0">
                <a:solidFill>
                  <a:srgbClr val="405449"/>
                </a:solidFill>
                <a:latin typeface="Nobile" pitchFamily="34" charset="0"/>
                <a:ea typeface="Nobile" pitchFamily="34" charset="-122"/>
                <a:cs typeface="Nobile" pitchFamily="34" charset="-120"/>
              </a:rPr>
              <a:t>Refine model decision thresholds to minimize the financial impact of false positives and false negatives, balancing detection accuracy with investigation costs.</a:t>
            </a:r>
            <a:endParaRPr lang="en-US" sz="1650" dirty="0"/>
          </a:p>
        </p:txBody>
      </p:sp>
      <p:pic>
        <p:nvPicPr>
          <p:cNvPr id="16"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20213" y="5567124"/>
            <a:ext cx="210026" cy="210026"/>
          </a:xfrm>
          <a:prstGeom prst="rect">
            <a:avLst/>
          </a:prstGeom>
        </p:spPr>
      </p:pic>
      <p:sp>
        <p:nvSpPr>
          <p:cNvPr id="17" name="Shape 11"/>
          <p:cNvSpPr/>
          <p:nvPr/>
        </p:nvSpPr>
        <p:spPr>
          <a:xfrm>
            <a:off x="7420213" y="5875020"/>
            <a:ext cx="6474857" cy="22860"/>
          </a:xfrm>
          <a:prstGeom prst="rect">
            <a:avLst/>
          </a:prstGeom>
          <a:solidFill>
            <a:srgbClr val="438951"/>
          </a:solidFill>
          <a:ln/>
        </p:spPr>
        <p:txBody>
          <a:bodyPr/>
          <a:lstStyle/>
          <a:p>
            <a:endParaRPr lang="en-US"/>
          </a:p>
        </p:txBody>
      </p:sp>
      <p:sp>
        <p:nvSpPr>
          <p:cNvPr id="18" name="Text 12"/>
          <p:cNvSpPr/>
          <p:nvPr/>
        </p:nvSpPr>
        <p:spPr>
          <a:xfrm>
            <a:off x="7420213" y="6025753"/>
            <a:ext cx="4418290" cy="328255"/>
          </a:xfrm>
          <a:prstGeom prst="rect">
            <a:avLst/>
          </a:prstGeom>
          <a:noFill/>
          <a:ln/>
        </p:spPr>
        <p:txBody>
          <a:bodyPr wrap="none" lIns="0" tIns="0" rIns="0" bIns="0" rtlCol="0" anchor="t"/>
          <a:lstStyle/>
          <a:p>
            <a:pPr marL="0" indent="0" algn="l">
              <a:lnSpc>
                <a:spcPts val="2550"/>
              </a:lnSpc>
              <a:buNone/>
            </a:pPr>
            <a:r>
              <a:rPr lang="en-US" sz="2050" b="1" dirty="0">
                <a:solidFill>
                  <a:srgbClr val="405449"/>
                </a:solidFill>
                <a:latin typeface="Fraunces Extra Bold" pitchFamily="34" charset="0"/>
                <a:ea typeface="Fraunces Extra Bold" pitchFamily="34" charset="-122"/>
                <a:cs typeface="Fraunces Extra Bold" pitchFamily="34" charset="-120"/>
              </a:rPr>
              <a:t>Implement Real-time Monitoring</a:t>
            </a:r>
            <a:endParaRPr lang="en-US" sz="2050" dirty="0"/>
          </a:p>
        </p:txBody>
      </p:sp>
      <p:sp>
        <p:nvSpPr>
          <p:cNvPr id="19" name="Text 13"/>
          <p:cNvSpPr/>
          <p:nvPr/>
        </p:nvSpPr>
        <p:spPr>
          <a:xfrm>
            <a:off x="7420213" y="6479977"/>
            <a:ext cx="6474857" cy="1008698"/>
          </a:xfrm>
          <a:prstGeom prst="rect">
            <a:avLst/>
          </a:prstGeom>
          <a:noFill/>
          <a:ln/>
        </p:spPr>
        <p:txBody>
          <a:bodyPr wrap="square" lIns="0" tIns="0" rIns="0" bIns="0" rtlCol="0" anchor="t"/>
          <a:lstStyle/>
          <a:p>
            <a:pPr marL="0" indent="0" algn="l">
              <a:lnSpc>
                <a:spcPts val="2600"/>
              </a:lnSpc>
              <a:buNone/>
            </a:pPr>
            <a:r>
              <a:rPr lang="en-US" sz="1650" dirty="0">
                <a:solidFill>
                  <a:srgbClr val="405449"/>
                </a:solidFill>
                <a:latin typeface="Nobile" pitchFamily="34" charset="0"/>
                <a:ea typeface="Nobile" pitchFamily="34" charset="-122"/>
                <a:cs typeface="Nobile" pitchFamily="34" charset="-120"/>
              </a:rPr>
              <a:t>Develop a dynamic dashboard for continuous, real-time assessment of provider risk scores, enabling immediate action on emerging threats and suspicious activities.</a:t>
            </a:r>
            <a:endParaRPr lang="en-US" sz="1650" dirty="0"/>
          </a:p>
        </p:txBody>
      </p:sp>
      <p:sp>
        <p:nvSpPr>
          <p:cNvPr id="20" name="Rectangle 19">
            <a:extLst>
              <a:ext uri="{FF2B5EF4-FFF2-40B4-BE49-F238E27FC236}">
                <a16:creationId xmlns:a16="http://schemas.microsoft.com/office/drawing/2014/main" id="{E3644F01-AD19-C808-E038-8C7811231F2F}"/>
              </a:ext>
            </a:extLst>
          </p:cNvPr>
          <p:cNvSpPr/>
          <p:nvPr/>
        </p:nvSpPr>
        <p:spPr>
          <a:xfrm>
            <a:off x="12660284" y="7672150"/>
            <a:ext cx="1895301" cy="47432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649730"/>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Conclusion</a:t>
            </a:r>
            <a:endParaRPr lang="en-US" sz="4450" dirty="0"/>
          </a:p>
        </p:txBody>
      </p:sp>
      <p:sp>
        <p:nvSpPr>
          <p:cNvPr id="3" name="Shape 1"/>
          <p:cNvSpPr/>
          <p:nvPr/>
        </p:nvSpPr>
        <p:spPr>
          <a:xfrm>
            <a:off x="793790" y="2812137"/>
            <a:ext cx="510302" cy="510302"/>
          </a:xfrm>
          <a:prstGeom prst="roundRect">
            <a:avLst>
              <a:gd name="adj" fmla="val 40005"/>
            </a:avLst>
          </a:prstGeom>
          <a:solidFill>
            <a:srgbClr val="E8F3E8"/>
          </a:solidFill>
          <a:ln/>
        </p:spPr>
        <p:txBody>
          <a:bodyPr/>
          <a:lstStyle/>
          <a:p>
            <a:endParaRPr lang="en-US"/>
          </a:p>
        </p:txBody>
      </p:sp>
      <p:sp>
        <p:nvSpPr>
          <p:cNvPr id="4" name="Text 2"/>
          <p:cNvSpPr/>
          <p:nvPr/>
        </p:nvSpPr>
        <p:spPr>
          <a:xfrm>
            <a:off x="1530906" y="2890004"/>
            <a:ext cx="3552468"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Full Pipeline Established</a:t>
            </a:r>
            <a:endParaRPr lang="en-US" sz="2200" dirty="0"/>
          </a:p>
        </p:txBody>
      </p:sp>
      <p:sp>
        <p:nvSpPr>
          <p:cNvPr id="5" name="Text 3"/>
          <p:cNvSpPr/>
          <p:nvPr/>
        </p:nvSpPr>
        <p:spPr>
          <a:xfrm>
            <a:off x="1530906" y="3380423"/>
            <a:ext cx="5642491" cy="1088708"/>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Successfully built a comprehensive pipeline from raw claims data to actionable risk scoring for healthcare fraud.</a:t>
            </a:r>
            <a:endParaRPr lang="en-US" sz="1750" dirty="0"/>
          </a:p>
        </p:txBody>
      </p:sp>
      <p:sp>
        <p:nvSpPr>
          <p:cNvPr id="6" name="Shape 4"/>
          <p:cNvSpPr/>
          <p:nvPr/>
        </p:nvSpPr>
        <p:spPr>
          <a:xfrm>
            <a:off x="7456884" y="2812137"/>
            <a:ext cx="510302" cy="510302"/>
          </a:xfrm>
          <a:prstGeom prst="roundRect">
            <a:avLst>
              <a:gd name="adj" fmla="val 40005"/>
            </a:avLst>
          </a:prstGeom>
          <a:solidFill>
            <a:srgbClr val="E8F3E8"/>
          </a:solidFill>
          <a:ln/>
        </p:spPr>
        <p:txBody>
          <a:bodyPr/>
          <a:lstStyle/>
          <a:p>
            <a:endParaRPr lang="en-US"/>
          </a:p>
        </p:txBody>
      </p:sp>
      <p:sp>
        <p:nvSpPr>
          <p:cNvPr id="7" name="Text 5"/>
          <p:cNvSpPr/>
          <p:nvPr/>
        </p:nvSpPr>
        <p:spPr>
          <a:xfrm>
            <a:off x="8194000" y="2890004"/>
            <a:ext cx="4324588"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Strong Performance Achieved</a:t>
            </a:r>
            <a:endParaRPr lang="en-US" sz="2200" dirty="0"/>
          </a:p>
        </p:txBody>
      </p:sp>
      <p:sp>
        <p:nvSpPr>
          <p:cNvPr id="8" name="Text 6"/>
          <p:cNvSpPr/>
          <p:nvPr/>
        </p:nvSpPr>
        <p:spPr>
          <a:xfrm>
            <a:off x="8194000" y="3380423"/>
            <a:ext cx="5642610" cy="1088708"/>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The chosen Random Forest model demonstrated robust performance, achieving an ROC-AUC of approximately 0.95.</a:t>
            </a:r>
            <a:endParaRPr lang="en-US" sz="1750" dirty="0"/>
          </a:p>
        </p:txBody>
      </p:sp>
      <p:sp>
        <p:nvSpPr>
          <p:cNvPr id="9" name="Shape 7"/>
          <p:cNvSpPr/>
          <p:nvPr/>
        </p:nvSpPr>
        <p:spPr>
          <a:xfrm>
            <a:off x="793790" y="4922758"/>
            <a:ext cx="510302" cy="510302"/>
          </a:xfrm>
          <a:prstGeom prst="roundRect">
            <a:avLst>
              <a:gd name="adj" fmla="val 40005"/>
            </a:avLst>
          </a:prstGeom>
          <a:solidFill>
            <a:srgbClr val="E8F3E8"/>
          </a:solidFill>
          <a:ln/>
        </p:spPr>
        <p:txBody>
          <a:bodyPr/>
          <a:lstStyle/>
          <a:p>
            <a:endParaRPr lang="en-US"/>
          </a:p>
        </p:txBody>
      </p:sp>
      <p:sp>
        <p:nvSpPr>
          <p:cNvPr id="10" name="Text 8"/>
          <p:cNvSpPr/>
          <p:nvPr/>
        </p:nvSpPr>
        <p:spPr>
          <a:xfrm>
            <a:off x="1530906" y="5000625"/>
            <a:ext cx="4180284"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Actionable Insights Provided</a:t>
            </a:r>
            <a:endParaRPr lang="en-US" sz="2200" dirty="0"/>
          </a:p>
        </p:txBody>
      </p:sp>
      <p:sp>
        <p:nvSpPr>
          <p:cNvPr id="11" name="Text 9"/>
          <p:cNvSpPr/>
          <p:nvPr/>
        </p:nvSpPr>
        <p:spPr>
          <a:xfrm>
            <a:off x="1530906" y="5491043"/>
            <a:ext cx="5642491" cy="1088708"/>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The system generates clear, interpretable insights, empowering investigators to prioritize and target potential fraud effectively.</a:t>
            </a:r>
            <a:endParaRPr lang="en-US" sz="1750" dirty="0"/>
          </a:p>
        </p:txBody>
      </p:sp>
      <p:sp>
        <p:nvSpPr>
          <p:cNvPr id="12" name="Shape 10"/>
          <p:cNvSpPr/>
          <p:nvPr/>
        </p:nvSpPr>
        <p:spPr>
          <a:xfrm>
            <a:off x="7456884" y="4922758"/>
            <a:ext cx="510302" cy="510302"/>
          </a:xfrm>
          <a:prstGeom prst="roundRect">
            <a:avLst>
              <a:gd name="adj" fmla="val 40005"/>
            </a:avLst>
          </a:prstGeom>
          <a:solidFill>
            <a:srgbClr val="E8F3E8"/>
          </a:solidFill>
          <a:ln/>
        </p:spPr>
        <p:txBody>
          <a:bodyPr/>
          <a:lstStyle/>
          <a:p>
            <a:endParaRPr lang="en-US"/>
          </a:p>
        </p:txBody>
      </p:sp>
      <p:sp>
        <p:nvSpPr>
          <p:cNvPr id="13" name="Text 11"/>
          <p:cNvSpPr/>
          <p:nvPr/>
        </p:nvSpPr>
        <p:spPr>
          <a:xfrm>
            <a:off x="8194000" y="5000625"/>
            <a:ext cx="4284464"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Path for Future Enhancement</a:t>
            </a:r>
            <a:endParaRPr lang="en-US" sz="2200" dirty="0"/>
          </a:p>
        </p:txBody>
      </p:sp>
      <p:sp>
        <p:nvSpPr>
          <p:cNvPr id="14" name="Text 12"/>
          <p:cNvSpPr/>
          <p:nvPr/>
        </p:nvSpPr>
        <p:spPr>
          <a:xfrm>
            <a:off x="8194000" y="5491043"/>
            <a:ext cx="5642610" cy="1088708"/>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Identified clear next steps and areas for further development to continually refine and improve fraud detection accuracy.</a:t>
            </a:r>
            <a:endParaRPr lang="en-US" sz="1750" dirty="0"/>
          </a:p>
        </p:txBody>
      </p:sp>
      <p:sp>
        <p:nvSpPr>
          <p:cNvPr id="15" name="Rectangle 14">
            <a:extLst>
              <a:ext uri="{FF2B5EF4-FFF2-40B4-BE49-F238E27FC236}">
                <a16:creationId xmlns:a16="http://schemas.microsoft.com/office/drawing/2014/main" id="{C9F696D9-78E4-AFD6-1BE3-E964906788FE}"/>
              </a:ext>
            </a:extLst>
          </p:cNvPr>
          <p:cNvSpPr/>
          <p:nvPr/>
        </p:nvSpPr>
        <p:spPr>
          <a:xfrm>
            <a:off x="12660284" y="7672150"/>
            <a:ext cx="1895301" cy="47432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2291715"/>
            <a:ext cx="6088856" cy="708779"/>
          </a:xfrm>
          <a:prstGeom prst="rect">
            <a:avLst/>
          </a:prstGeom>
          <a:noFill/>
          <a:ln/>
        </p:spPr>
        <p:txBody>
          <a:bodyPr wrap="non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Questions &amp; Answers</a:t>
            </a:r>
            <a:endParaRPr lang="en-US" sz="4450" dirty="0"/>
          </a:p>
        </p:txBody>
      </p:sp>
      <p:sp>
        <p:nvSpPr>
          <p:cNvPr id="3" name="Text 1"/>
          <p:cNvSpPr/>
          <p:nvPr/>
        </p:nvSpPr>
        <p:spPr>
          <a:xfrm>
            <a:off x="793790" y="3454122"/>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05449"/>
                </a:solidFill>
                <a:latin typeface="Nobile" pitchFamily="34" charset="0"/>
                <a:ea typeface="Nobile" pitchFamily="34" charset="-122"/>
                <a:cs typeface="Nobile" pitchFamily="34" charset="-120"/>
              </a:rPr>
              <a:t>Thank you for your attention. We are now open to any questions you may have regarding our machine learning model for healthcare fraud detection.</a:t>
            </a:r>
            <a:endParaRPr lang="en-US" sz="1750" dirty="0"/>
          </a:p>
        </p:txBody>
      </p:sp>
      <p:sp>
        <p:nvSpPr>
          <p:cNvPr id="4" name="Text 2"/>
          <p:cNvSpPr/>
          <p:nvPr/>
        </p:nvSpPr>
        <p:spPr>
          <a:xfrm>
            <a:off x="793790" y="4520089"/>
            <a:ext cx="11341298" cy="1417677"/>
          </a:xfrm>
          <a:prstGeom prst="rect">
            <a:avLst/>
          </a:prstGeom>
          <a:noFill/>
          <a:ln/>
        </p:spPr>
        <p:txBody>
          <a:bodyPr wrap="none" lIns="0" tIns="0" rIns="0" bIns="0" rtlCol="0" anchor="t"/>
          <a:lstStyle/>
          <a:p>
            <a:pPr marL="0" indent="0" algn="l">
              <a:lnSpc>
                <a:spcPts val="11150"/>
              </a:lnSpc>
              <a:buNone/>
            </a:pPr>
            <a:r>
              <a:rPr lang="en-US" sz="8900" b="1" dirty="0">
                <a:solidFill>
                  <a:srgbClr val="3B4540"/>
                </a:solidFill>
                <a:latin typeface="Fraunces Extra Bold" pitchFamily="34" charset="0"/>
                <a:ea typeface="Fraunces Extra Bold" pitchFamily="34" charset="-122"/>
                <a:cs typeface="Fraunces Extra Bold" pitchFamily="34" charset="-120"/>
              </a:rPr>
              <a:t>Thank You!</a:t>
            </a:r>
            <a:endParaRPr lang="en-US" sz="8900" dirty="0"/>
          </a:p>
        </p:txBody>
      </p:sp>
      <p:sp>
        <p:nvSpPr>
          <p:cNvPr id="5" name="Rectangle 4">
            <a:extLst>
              <a:ext uri="{FF2B5EF4-FFF2-40B4-BE49-F238E27FC236}">
                <a16:creationId xmlns:a16="http://schemas.microsoft.com/office/drawing/2014/main" id="{2BD1E07A-8534-8080-F463-E44949232079}"/>
              </a:ext>
            </a:extLst>
          </p:cNvPr>
          <p:cNvSpPr/>
          <p:nvPr/>
        </p:nvSpPr>
        <p:spPr>
          <a:xfrm>
            <a:off x="12660284" y="7672150"/>
            <a:ext cx="1895301" cy="47432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1509</Words>
  <Application>Microsoft Office PowerPoint</Application>
  <PresentationFormat>Custom</PresentationFormat>
  <Paragraphs>181</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Fraunces Light</vt:lpstr>
      <vt:lpstr>Fraunces Extra Bold</vt:lpstr>
      <vt:lpstr>Arial</vt:lpstr>
      <vt:lpstr>Nobile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Zeina Shaarawy Mohamed</cp:lastModifiedBy>
  <cp:revision>2</cp:revision>
  <dcterms:created xsi:type="dcterms:W3CDTF">2025-12-03T16:19:10Z</dcterms:created>
  <dcterms:modified xsi:type="dcterms:W3CDTF">2025-12-03T16:21:55Z</dcterms:modified>
</cp:coreProperties>
</file>